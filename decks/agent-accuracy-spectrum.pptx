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Some of you may remember me from such demos as the delegation demo. Those demos and this one have something in common: I like to build test harnesses for real-world use cases my customers care about. And both this demo and the delegation demo deal with the same fundamental topic: accuracy.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this demo is: a process and methods -- with real-world examples -- for making your agents better. What it isn't: a data extraction demo, other than to show ideas on tools and process when extraction is necessary. You'll probably have more questions than answers when we're done. Let's get into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model is the single biggest variable at Level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Tool design is as important as model selection. Maybe more.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Connect to daily experience: Copilot helps you draft an email -- you review it. Copilot helps you write code -- you review it. Why would we skip human review at any of these five levels, especially Level 5 where the stakes are a family's future?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is critical for the tech series. MUST articulate the platform value, not just the results.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Know what works today. Plan for what's coming.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 what do we do? Do we just give up on agents? No -- you continue to test them and make them better, and you always adhere to trust but verify. I have agents building apps for me right now. If I were building production enterprise apps, I'd have a team of human developers checking the work, helping test, reviewing agentic results. The AI accelerates the team. The team validates the 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731520"/>
            <a:ext cx="9418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Calibri"/>
              </a:defRPr>
            </a:pPr>
            <a:r>
              <a:t>AI Agent Accuracy</a:t>
            </a:r>
            <a:br/>
            <a:r>
              <a:t>for Government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2377440"/>
            <a:ext cx="7589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A0C4E8"/>
                </a:solidFill>
                <a:latin typeface="Calibri"/>
              </a:defRPr>
            </a:pPr>
            <a:r>
              <a:t>A Five-Level Framework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3017520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88AACC"/>
                </a:solidFill>
                <a:latin typeface="Calibri"/>
              </a:defRPr>
            </a:pPr>
            <a:r>
              <a:t>Findings from 313 Test Runs Across 19 Agent Configurations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0" y="438912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555555"/>
                </a:solidFill>
                <a:latin typeface="Calibri"/>
              </a:defRPr>
            </a:pPr>
            <a:r>
              <a:t>21 Slides  |  March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2327" y="51206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41167" y="51206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90007" y="51206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38847" y="51206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87687" y="51206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5760720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357ABD"/>
                </a:solidFill>
                <a:latin typeface="Calibri"/>
              </a:defRPr>
            </a:pPr>
            <a:r>
              <a:t>313 test runs  |  19 agents  |  21 slides  |  2 use cases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The Question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463040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1B2A4A"/>
                </a:solidFill>
                <a:latin typeface="Calibri"/>
              </a:defRPr>
            </a:pPr>
            <a:r>
              <a:t>"Not all AI use cases are created equal."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560320"/>
            <a:ext cx="9418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Your policy lookup chatbot and your legal case preparation tool have fundamentally different accuracy requirements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This framework helps you decide where to deploy aggressively, where to add guardrails, and where human review is non-negotiable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" y="4572000"/>
            <a:ext cx="9418320" cy="73152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240280" y="4343400"/>
            <a:ext cx="457200" cy="457200"/>
          </a:xfrm>
          <a:prstGeom prst="ellipse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599432" y="4343400"/>
            <a:ext cx="457200" cy="457200"/>
          </a:xfrm>
          <a:prstGeom prst="ellipse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958584" y="4343400"/>
            <a:ext cx="457200" cy="457200"/>
          </a:xfrm>
          <a:prstGeom prst="ellipse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317736" y="4343400"/>
            <a:ext cx="457200" cy="457200"/>
          </a:xfrm>
          <a:prstGeom prst="ellipse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1676888" y="4343400"/>
            <a:ext cx="457200" cy="457200"/>
          </a:xfrm>
          <a:prstGeom prst="ellipse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7548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CAF50"/>
                </a:solidFill>
                <a:latin typeface="Calibri"/>
              </a:defRPr>
            </a:pPr>
            <a:r>
              <a:t>Low Stakes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47548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E53935"/>
                </a:solidFill>
                <a:latin typeface="Calibri"/>
              </a:defRPr>
            </a:pPr>
            <a:r>
              <a:t>High Stakes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The Five Levels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097280" y="1463040"/>
          <a:ext cx="996696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2011680"/>
                <a:gridCol w="2743200"/>
                <a:gridCol w="4297680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Level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Name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Stakes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Example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 anchor="ctr">
                    <a:solidFill>
                      <a:srgbClr val="4CAF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Discovery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Inconvenience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"Find our leave policy"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 anchor="ctr">
                    <a:solidFill>
                      <a:srgbClr val="8BC3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Summarization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Wasted time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"Summarize this audit report"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 anchor="ctr">
                    <a:solidFill>
                      <a:srgbClr val="FF98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Operational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Misallocated resources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"How many open cases by type?"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 anchor="ctr">
                    <a:solidFill>
                      <a:srgbClr val="F451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Investigative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Missed evidence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"Build a timeline from these records"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 anchor="ctr">
                    <a:solidFill>
                      <a:srgbClr val="E539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Adjudicative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Wrong legal outcome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"Prepare facts for this hearing"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097280" y="484632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357ABD"/>
                </a:solidFill>
                <a:latin typeface="Calibri"/>
              </a:defRPr>
            </a:pPr>
            <a:r>
              <a:t>Where does your highest-priority use case fall?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Levels 1-2: The Quick Win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D2D2D"/>
                </a:solidFill>
                <a:latin typeface="Calibri"/>
              </a:defRPr>
            </a:pPr>
            <a:r>
              <a:t>Document agents score 8 out of 10 with zero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94560"/>
            <a:ext cx="99669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Point Copilot at your SharePoint library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No custom code, no databases, no tool design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Model choice barely matters at this level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Good enough for policy lookup, report summarization, meeting notes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4206240"/>
            <a:ext cx="1828800" cy="731520"/>
          </a:xfrm>
          <a:prstGeom prst="round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Copilot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03520" y="4206240"/>
            <a:ext cx="1828800" cy="731520"/>
          </a:xfrm>
          <a:prstGeom prst="round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SharePoint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63840" y="4206240"/>
            <a:ext cx="1828800" cy="731520"/>
          </a:xfrm>
          <a:prstGeom prst="round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Answer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17720" y="4251960"/>
            <a:ext cx="640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357ABD"/>
                </a:solidFill>
                <a:latin typeface="Calibri"/>
              </a:defRPr>
            </a:pPr>
            <a:r>
              <a:t>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8040" y="4251960"/>
            <a:ext cx="640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357ABD"/>
                </a:solidFill>
                <a:latin typeface="Calibri"/>
              </a:defRPr>
            </a:pPr>
            <a:r>
              <a:t>&gt;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530352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555555"/>
                </a:solidFill>
                <a:latin typeface="Calibri"/>
              </a:defRPr>
            </a:pPr>
            <a:r>
              <a:t>This is where most agencies should start. It works today.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Level 3: Structured Data Starts Winning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D2D2D"/>
                </a:solidFill>
                <a:latin typeface="Calibri"/>
              </a:defRPr>
            </a:pPr>
            <a:r>
              <a:t>Aggregate queries work across all agent types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94560"/>
            <a:ext cx="9966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"How many active cases?" "What's the breakdown by county?" "Top 5 violators?"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Document agents cannot answer these -- they only have individual files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Agents with structured data access start outperforming document agents here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0" y="3840480"/>
            <a:ext cx="4389120" cy="1645920"/>
          </a:xfrm>
          <a:prstGeom prst="round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54480" y="388620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53935"/>
                </a:solidFill>
                <a:latin typeface="Calibri"/>
              </a:defRPr>
            </a:pPr>
            <a:r>
              <a:t>Document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4297680"/>
            <a:ext cx="4023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555555"/>
                </a:solidFill>
                <a:latin typeface="Calibri"/>
              </a:defRPr>
            </a:pPr>
            <a:r>
              <a:t>"I don't have that information."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3840480"/>
            <a:ext cx="4389120" cy="1645920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0" y="388620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CAF50"/>
                </a:solidFill>
                <a:latin typeface="Calibri"/>
              </a:defRPr>
            </a:pPr>
            <a:r>
              <a:t>MCP Agent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4297680"/>
            <a:ext cx="4023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D2D2D"/>
                </a:solidFill>
                <a:latin typeface="Calibri"/>
              </a:defRPr>
            </a:pPr>
            <a:r>
              <a:t>CPS: 18 cases</a:t>
            </a:r>
            <a:br/>
            <a:r>
              <a:t>TPR: 12 cases</a:t>
            </a:r>
            <a:br/>
            <a:r>
              <a:t>Guardianship: 8 cases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555555"/>
                </a:solidFill>
                <a:latin typeface="Calibri"/>
              </a:defRPr>
            </a:pPr>
            <a:r>
              <a:t>This is where you start investing in data structure.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Level 4: The Inflection Point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D2D2D"/>
                </a:solidFill>
                <a:latin typeface="Calibri"/>
              </a:defRPr>
            </a:pPr>
            <a:r>
              <a:t>This is where engineering decisions determine success or failure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2D2D2D"/>
                </a:solidFill>
                <a:latin typeface="Calibri"/>
              </a:defRPr>
            </a:pPr>
            <a:r>
              <a:t>Three gaps emerged in testing: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0" y="2743200"/>
            <a:ext cx="3017520" cy="228600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54480" y="283464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The Model Gap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3474720"/>
            <a:ext cx="2651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Calibri"/>
              </a:defRPr>
            </a:pPr>
            <a:r>
              <a:t>GPT-4.1 scores 9.5/10</a:t>
            </a:r>
            <a:br/>
            <a:r>
              <a:t>vs GPT-4o at 4/10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846320" y="2743200"/>
            <a:ext cx="3017520" cy="228600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0" y="283464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The Tool Gap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3474720"/>
            <a:ext cx="2651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Calibri"/>
              </a:defRPr>
            </a:pPr>
            <a:r>
              <a:t>One missing tool caused</a:t>
            </a:r>
            <a:br/>
            <a:r>
              <a:t>87% failure rate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21040" y="2743200"/>
            <a:ext cx="3017520" cy="2286000"/>
          </a:xfrm>
          <a:prstGeom prst="round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19" y="283464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The Data Gap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19" y="3474720"/>
            <a:ext cx="2651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Calibri"/>
              </a:defRPr>
            </a:pPr>
            <a:r>
              <a:t>Facts buried in narrative</a:t>
            </a:r>
            <a:br/>
            <a:r>
              <a:t>text were invisible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530352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555555"/>
                </a:solidFill>
                <a:latin typeface="Calibri"/>
              </a:defRPr>
            </a:pPr>
            <a:r>
              <a:t>Level 4 is where the investment pays off -- or doesn't.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The Model Gap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2D2D"/>
                </a:solidFill>
                <a:latin typeface="Calibri"/>
              </a:defRPr>
            </a:pPr>
            <a:r>
              <a:t>GPT-4.1 vs GPT-4o: Same tools, same data, same backend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10312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0">
                <a:solidFill>
                  <a:srgbClr val="2D2D2D"/>
                </a:solidFill>
                <a:latin typeface="Calibri"/>
              </a:defRPr>
            </a:pPr>
            <a:r>
              <a:t>GPT-4.1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0" y="2148839"/>
            <a:ext cx="477774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38460" y="21031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4CAF50"/>
                </a:solidFill>
                <a:latin typeface="Calibri"/>
              </a:defRPr>
            </a:pPr>
            <a:r>
              <a:t>9.5/10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320040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0">
                <a:solidFill>
                  <a:srgbClr val="2D2D2D"/>
                </a:solidFill>
                <a:latin typeface="Calibri"/>
              </a:defRPr>
            </a:pPr>
            <a:r>
              <a:t>GPT-4o (Government Cloud)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0" y="324612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0" y="320040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9800"/>
                </a:solidFill>
                <a:latin typeface="Calibri"/>
              </a:defRPr>
            </a:pPr>
            <a:r>
              <a:t>4.0/10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4297679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0">
                <a:solidFill>
                  <a:srgbClr val="2D2D2D"/>
                </a:solidFill>
                <a:latin typeface="Calibri"/>
              </a:defRPr>
            </a:pPr>
            <a:r>
              <a:t>Platform-assigned (M365)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0" y="4343399"/>
            <a:ext cx="100584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66560" y="4297679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53935"/>
                </a:solidFill>
                <a:latin typeface="Calibri"/>
              </a:defRPr>
            </a:pPr>
            <a:r>
              <a:t>2.0/10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4754880"/>
            <a:ext cx="9418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2D2D2D"/>
                </a:solidFill>
                <a:latin typeface="Calibri"/>
              </a:rPr>
              <a:t>Government Cloud Copilot Studio is locked to GPT-4o today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D2D2D"/>
                </a:solidFill>
                <a:latin typeface="Calibri"/>
              </a:rPr>
              <a:t>No amount of prompt engineering closed this gap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D2D2D"/>
                </a:solidFill>
                <a:latin typeface="Calibri"/>
              </a:rPr>
              <a:t>Pro-code agents can use GPT-4.1 in Government Cloud via Azure OpenAI directly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The Tool Gap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D2D2D"/>
                </a:solidFill>
                <a:latin typeface="Calibri"/>
              </a:defRPr>
            </a:pPr>
            <a:r>
              <a:t>87% failure rate from one missing tool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94560"/>
            <a:ext cx="9966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Agents could not convert "4763 Griscom St" to a database parcel ID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15 address lookups across 5 agents, only 2 succeeded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One fuzzy-match tool added: zero failures in retesting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Investigative Agent: 1 out of 10 to a perfect 10 out of 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28800" y="4206240"/>
            <a:ext cx="3840480" cy="1463040"/>
          </a:xfrm>
          <a:prstGeom prst="round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425196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E53935"/>
                </a:solidFill>
                <a:latin typeface="Calibri"/>
              </a:defRPr>
            </a:pPr>
            <a:r>
              <a:t>BEFORE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4663440"/>
            <a:ext cx="3474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E53935"/>
                </a:solidFill>
                <a:latin typeface="Calibri"/>
              </a:defRPr>
            </a:pPr>
            <a:r>
              <a:t>13 of 15 lookups failed</a:t>
            </a:r>
            <a:br/>
            <a:r>
              <a:t>1/10 accuracy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0" y="4480560"/>
            <a:ext cx="822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357ABD"/>
                </a:solidFill>
                <a:latin typeface="Calibri"/>
              </a:defRPr>
            </a:pPr>
            <a:r>
              <a:t>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92240" y="4206240"/>
            <a:ext cx="3840480" cy="1463040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0" y="425196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4CAF50"/>
                </a:solidFill>
                <a:latin typeface="Calibri"/>
              </a:defRPr>
            </a:pPr>
            <a:r>
              <a:t>AFTER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4663440"/>
            <a:ext cx="3474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4CAF50"/>
                </a:solidFill>
                <a:latin typeface="Calibri"/>
              </a:defRPr>
            </a:pPr>
            <a:r>
              <a:t>0 failures</a:t>
            </a:r>
            <a:br/>
            <a:r>
              <a:t>10/10 accuracy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5760720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357ABD"/>
                </a:solidFill>
                <a:latin typeface="Calibri"/>
              </a:defRPr>
            </a:pPr>
            <a:r>
              <a:t>The change: one search_properties fuzzy-match tool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Level 5: Trust But Verify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D2D2D"/>
                </a:solidFill>
                <a:latin typeface="Calibri"/>
              </a:defRPr>
            </a:pPr>
            <a:r>
              <a:t>Even our best agent reproduced a dangerous error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2103120"/>
            <a:ext cx="4754880" cy="1828800"/>
          </a:xfrm>
          <a:prstGeom prst="round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214884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E53935"/>
                </a:solidFill>
                <a:latin typeface="Calibri"/>
              </a:defRPr>
            </a:pPr>
            <a:r>
              <a:t>Sheriff's Report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2560320"/>
            <a:ext cx="4389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2D2D2D"/>
                </a:solidFill>
                <a:latin typeface="Calibri"/>
              </a:defRPr>
            </a:pPr>
            <a:r>
              <a:t>"no fractures detected</a:t>
            </a:r>
            <a:br/>
            <a:r>
              <a:t>on skeletal survey"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2103120"/>
            <a:ext cx="4754880" cy="1828800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214884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4CAF50"/>
                </a:solidFill>
                <a:latin typeface="Calibri"/>
              </a:defRPr>
            </a:pPr>
            <a:r>
              <a:t>Medical Records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560320"/>
            <a:ext cx="4389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2D2D2D"/>
                </a:solidFill>
                <a:latin typeface="Calibri"/>
              </a:defRPr>
            </a:pPr>
            <a:r>
              <a:t>Bilateral long bone</a:t>
            </a:r>
            <a:br/>
            <a:r>
              <a:t>fractures documented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06908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C62828"/>
                </a:solidFill>
                <a:latin typeface="Calibri"/>
              </a:defRPr>
            </a:pPr>
            <a:r>
              <a:t>7 of 8 document agents quoted the sheriff's report without cross-checking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5720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2A4A"/>
                </a:solidFill>
                <a:latin typeface="Calibri"/>
              </a:defRPr>
            </a:pPr>
            <a:r>
              <a:t>The fix: document structure improvements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937760"/>
            <a:ext cx="9966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2D2D2D"/>
                </a:solidFill>
                <a:latin typeface="Calibri"/>
              </a:rPr>
              <a:t>Added cross-reference headers to each document (zero content changes)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D2D2D"/>
                </a:solidFill>
                <a:latin typeface="Calibri"/>
              </a:rPr>
              <a:t>Commercial agent: 0/2 to 2/2 -- pulled Medical Records as primary source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D2D2D"/>
                </a:solidFill>
                <a:latin typeface="Calibri"/>
              </a:rPr>
              <a:t>GCC agent: 3/10 to 9/10 -- same model, same platform, just better documents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D2D2D"/>
                </a:solidFill>
                <a:latin typeface="Calibri"/>
              </a:rPr>
              <a:t>Zero code, zero engineering -- document hygiene any paralegal can implement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The Danger Taxonomy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2D2D"/>
                </a:solidFill>
                <a:latin typeface="Calibri"/>
              </a:defRPr>
            </a:pPr>
            <a:r>
              <a:t>Five categories of AI failure, ranked by severity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2057400"/>
            <a:ext cx="1371600" cy="457200"/>
          </a:xfrm>
          <a:prstGeom prst="round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CRITICAL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0" y="201168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D2D2D"/>
                </a:solidFill>
                <a:latin typeface="Calibri"/>
              </a:defRPr>
            </a:pPr>
            <a:r>
              <a:t>1. False Negative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205740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555555"/>
                </a:solidFill>
                <a:latin typeface="Calibri"/>
              </a:defRPr>
            </a:pPr>
            <a:r>
              <a:t>Data retrieved, answer not recognized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371600" y="2880360"/>
            <a:ext cx="1371600" cy="457200"/>
          </a:xfrm>
          <a:prstGeom prst="round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CRITICAL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0" y="283464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D2D2D"/>
                </a:solidFill>
                <a:latin typeface="Calibri"/>
              </a:defRPr>
            </a:pPr>
            <a:r>
              <a:t>2. Faithfully Reproduced Misinformation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288036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555555"/>
                </a:solidFill>
                <a:latin typeface="Calibri"/>
              </a:defRPr>
            </a:pPr>
            <a:r>
              <a:t>Source document had an error, agent quoted it accurately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371600" y="3703320"/>
            <a:ext cx="1371600" cy="457200"/>
          </a:xfrm>
          <a:prstGeom prst="round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HIGH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365760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D2D2D"/>
                </a:solidFill>
                <a:latin typeface="Calibri"/>
              </a:defRPr>
            </a:pPr>
            <a:r>
              <a:t>3. Misattribution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370332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555555"/>
                </a:solidFill>
                <a:latin typeface="Calibri"/>
              </a:defRPr>
            </a:pPr>
            <a:r>
              <a:t>Real fact, wrong person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371600" y="4526280"/>
            <a:ext cx="1371600" cy="457200"/>
          </a:xfrm>
          <a:prstGeom prst="round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HIGH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448056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D2D2D"/>
                </a:solidFill>
                <a:latin typeface="Calibri"/>
              </a:defRPr>
            </a:pPr>
            <a:r>
              <a:t>4. Hallucinated Fact with Confidence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452628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555555"/>
                </a:solidFill>
                <a:latin typeface="Calibri"/>
              </a:defRPr>
            </a:pPr>
            <a:r>
              <a:t>Invented detail with no source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371600" y="5349240"/>
            <a:ext cx="1371600" cy="457200"/>
          </a:xfrm>
          <a:prstGeom prst="round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MEDIUM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26080" y="530352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D2D2D"/>
                </a:solidFill>
                <a:latin typeface="Calibri"/>
              </a:defRPr>
            </a:pPr>
            <a:r>
              <a:t>5. Silent Failure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534924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555555"/>
                </a:solidFill>
                <a:latin typeface="Calibri"/>
              </a:defRPr>
            </a:pPr>
            <a:r>
              <a:t>No results, no indication anything went wrong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54864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357ABD"/>
                </a:solidFill>
                <a:latin typeface="Calibri"/>
              </a:defRPr>
            </a:pPr>
            <a:r>
              <a:t>These are not hypothetical. We documented each one across 313 test runs.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The Iterative Process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D2D2D"/>
                </a:solidFill>
                <a:latin typeface="Calibri"/>
              </a:defRPr>
            </a:pPr>
            <a:r>
              <a:t>Deploying an agent is not a one-time event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2286000"/>
            <a:ext cx="2468880" cy="2743200"/>
          </a:xfrm>
          <a:prstGeom prst="roundRect">
            <a:avLst/>
          </a:prstGeom>
          <a:solidFill>
            <a:srgbClr val="7890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233172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Round 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28346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Baseline Testing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3383280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DDEEFF"/>
                </a:solidFill>
                <a:latin typeface="Calibri"/>
              </a:defRPr>
            </a:pPr>
            <a:r>
              <a:t>Measure failures</a:t>
            </a:r>
            <a:br/>
            <a:r>
              <a:t>against ground truth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931920" y="2286000"/>
            <a:ext cx="2468880" cy="2743200"/>
          </a:xfrm>
          <a:prstGeom prst="round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023359" y="233172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Round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59" y="28346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Fix the 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23359" y="3383280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DDEEFF"/>
                </a:solidFill>
                <a:latin typeface="Calibri"/>
              </a:defRPr>
            </a:pPr>
            <a:r>
              <a:t>Make facts discrete</a:t>
            </a:r>
            <a:br/>
            <a:r>
              <a:t>and queryable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66560" y="2286000"/>
            <a:ext cx="2468880" cy="2743200"/>
          </a:xfrm>
          <a:prstGeom prst="round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0" y="233172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Round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28346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Fix the Tools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0" y="3383280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DDEEFF"/>
                </a:solidFill>
                <a:latin typeface="Calibri"/>
              </a:defRPr>
            </a:pPr>
            <a:r>
              <a:t>Help the model</a:t>
            </a:r>
            <a:br/>
            <a:r>
              <a:t>reach the data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601200" y="2286000"/>
            <a:ext cx="2468880" cy="2743200"/>
          </a:xfrm>
          <a:prstGeom prst="roundRect">
            <a:avLst/>
          </a:prstGeom>
          <a:solidFill>
            <a:srgbClr val="4295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92640" y="233172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Round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92640" y="28346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Validate Models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92640" y="3383280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DDEEFF"/>
                </a:solidFill>
                <a:latin typeface="Calibri"/>
              </a:defRPr>
            </a:pPr>
            <a:r>
              <a:t>Confirm what works</a:t>
            </a:r>
            <a:br/>
            <a:r>
              <a:t>where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301752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357ABD"/>
                </a:solidFill>
                <a:latin typeface="Calibri"/>
              </a:defRPr>
            </a:pPr>
            <a:r>
              <a:t>&gt;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301752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357ABD"/>
                </a:solidFill>
                <a:latin typeface="Calibri"/>
              </a:defRPr>
            </a:pPr>
            <a:r>
              <a:t>&gt;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35440" y="301752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357ABD"/>
                </a:solidFill>
                <a:latin typeface="Calibri"/>
              </a:defRPr>
            </a:pPr>
            <a:r>
              <a:t>&gt;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530352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555555"/>
                </a:solidFill>
                <a:latin typeface="Calibri"/>
              </a:defRPr>
            </a:pPr>
            <a:r>
              <a:t>Every organization will go through these rounds, in this order.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Results After Iteration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2D2D"/>
                </a:solidFill>
                <a:latin typeface="Calibri"/>
              </a:defRPr>
            </a:pPr>
            <a:r>
              <a:t>Four agents reached 9-10 out of 10 (three at perfect 10)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371600" y="2103120"/>
          <a:ext cx="877824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1645920"/>
                <a:gridCol w="1645920"/>
                <a:gridCol w="1371600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Agent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Round 1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Final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Rounds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Commercial MCP (Copilot Studio)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8/10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10/10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Investigative Agent (OpenAI SDK)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1/10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10/10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Foundry Agent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4/10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9/10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Triage Agent (Semantic Kernel)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0/10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10/10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097280" y="457200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555555"/>
                </a:solidFill>
                <a:latin typeface="Calibri"/>
              </a:defRPr>
            </a:pPr>
            <a:r>
              <a:t>The Triage Agent took five rounds to reach a perfect score.</a:t>
            </a:r>
            <a:br/>
            <a:r>
              <a:t>The investment is real -- but so are the results.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The Code Spectrum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2D2D"/>
                </a:solidFill>
                <a:latin typeface="Calibri"/>
              </a:defRPr>
            </a:pPr>
            <a:r>
              <a:t>Zero code to full code -- same accuracy with GPT-4.1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371600" y="2103120"/>
          <a:ext cx="914400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3200400"/>
                <a:gridCol w="2743200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Approach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Code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Best For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M365 Copilot (Com)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Zero (3 JSON manifests)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Levels 1-2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Copilot Studio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Zero to low code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Levels 1-3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Foundry Agent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Minimal code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Levels 3-4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Custom SDK (OpenAI, SK)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Full code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Levels 4-5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097280" y="457200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357ABD"/>
                </a:solidFill>
                <a:latin typeface="Calibri"/>
              </a:defRPr>
            </a:pPr>
            <a:r>
              <a:t>The investment buys governance and customization, not accuracy.</a:t>
            </a:r>
            <a:br/>
            <a:r>
              <a:t>Accuracy comes from the model and the data.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Why Copilot Studio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D2D2D"/>
                </a:solidFill>
                <a:latin typeface="Calibri"/>
              </a:defRPr>
            </a:pPr>
            <a:r>
              <a:t>One platform, declarative to pro-code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>
                <a:solidFill>
                  <a:srgbClr val="2D2D2D"/>
                </a:solidFill>
                <a:latin typeface="Calibri"/>
              </a:rPr>
              <a:t>Same environment hosts zero-code SharePoint agents AND MCP-connected structured data agents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D2D2D"/>
                </a:solidFill>
                <a:latin typeface="Calibri"/>
              </a:rPr>
              <a:t>Model flexibility: swap GPT-4o for GPT-4.1, accuracy goes from 4/10 to 10/10 -- no config changes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D2D2D"/>
                </a:solidFill>
                <a:latin typeface="Calibri"/>
              </a:rPr>
              <a:t>Enterprise governance built in: DLP, audit logging, admin pre-approval for tool calls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D2D2D"/>
                </a:solidFill>
                <a:latin typeface="Calibri"/>
              </a:rPr>
              <a:t>M365 distribution: agents show up in Teams and Copilot chat -- no separate app to deploy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D2D2D"/>
                </a:solidFill>
                <a:latin typeface="Calibri"/>
              </a:rPr>
              <a:t>Our test data proves the platform works -- the model is the variable, not the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502920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357ABD"/>
                </a:solidFill>
                <a:latin typeface="Calibri"/>
              </a:defRPr>
            </a:pPr>
            <a:r>
              <a:t>Commercial Copilot Studio MCP scored a perfect 10 out of 10.</a:t>
            </a:r>
            <a:br/>
            <a:r>
              <a:t>The architecture is sound. The limiting factor is model availability in GCC.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What to Do at Each Level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097280" y="1463040"/>
          <a:ext cx="960120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8229600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Level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Action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1-2</a:t>
                      </a:r>
                    </a:p>
                  </a:txBody>
                  <a:tcPr anchor="ctr">
                    <a:solidFill>
                      <a:srgbClr val="4CAF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Deploy Copilot with SharePoint. Clean up document metadata. Done.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 anchor="ctr">
                    <a:solidFill>
                      <a:srgbClr val="FF98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Connect to structured data via MCP. Clear tool descriptions. Summary modes.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 anchor="ctr">
                    <a:solidFill>
                      <a:srgbClr val="F451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Purpose-built tools. GPT-4.1 minimum. Ground truth test suite. Budget 3+ rounds.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 anchor="ctr">
                    <a:solidFill>
                      <a:srgbClr val="E539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Level 4 + human review workflows + audit logging + citation linking.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097280" y="475488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357ABD"/>
                </a:solidFill>
                <a:latin typeface="Calibri"/>
              </a:defRPr>
            </a:pPr>
            <a:r>
              <a:t>Match your investment to your accuracy requirement.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Government Cloud Customers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D2D2D"/>
                </a:solidFill>
                <a:latin typeface="Calibri"/>
              </a:defRPr>
            </a:pPr>
            <a:r>
              <a:t>The GCC reality today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011680"/>
            <a:ext cx="9966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>
                <a:solidFill>
                  <a:srgbClr val="2D2D2D"/>
                </a:solidFill>
                <a:latin typeface="Calibri"/>
              </a:rPr>
              <a:t>Copilot Studio locked to GPT-4o (adequate for Levels 1-3)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D2D2D"/>
                </a:solidFill>
                <a:latin typeface="Calibri"/>
              </a:rPr>
              <a:t>Pro-code agents can use GPT-4.1 via Azure OpenAI (Levels 4-5)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D2D2D"/>
                </a:solidFill>
                <a:latin typeface="Calibri"/>
              </a:rPr>
              <a:t>Monitor model updates -- GCC parity will improve over time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0" y="3657600"/>
            <a:ext cx="3200400" cy="91440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34439" y="365760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D2D2D"/>
                </a:solidFill>
                <a:latin typeface="Calibri"/>
              </a:defRPr>
            </a:pPr>
            <a:r>
              <a:t>Is your use case Level 1-3?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97280" y="4754880"/>
            <a:ext cx="3200400" cy="91440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34439" y="475488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Use Copilot Studio today.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63440" y="3657600"/>
            <a:ext cx="3200400" cy="91440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00600" y="365760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D2D2D"/>
                </a:solidFill>
                <a:latin typeface="Calibri"/>
              </a:defRPr>
            </a:pPr>
            <a:r>
              <a:t>Is your use case Level 4-5?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63440" y="4754880"/>
            <a:ext cx="3200400" cy="91440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475488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Deploy a pro-code agent</a:t>
            </a:r>
            <a:br/>
            <a:r>
              <a:t>with GPT-4.1.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0" y="3657600"/>
            <a:ext cx="3200400" cy="91440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66760" y="365760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D2D2D"/>
                </a:solidFill>
                <a:latin typeface="Calibri"/>
              </a:defRPr>
            </a:pPr>
            <a:r>
              <a:t>Planning for Level 4-5</a:t>
            </a:r>
            <a:br/>
            <a:r>
              <a:t>in the future?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0" y="4754880"/>
            <a:ext cx="3200400" cy="914400"/>
          </a:xfrm>
          <a:prstGeom prst="round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66760" y="475488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Start building ground truth</a:t>
            </a:r>
            <a:br/>
            <a:r>
              <a:t>test suites now.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914400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Calibri"/>
              </a:defRPr>
            </a:pPr>
            <a:r>
              <a:t>Live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011680"/>
            <a:ext cx="9418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A0C4E8"/>
                </a:solidFill>
                <a:latin typeface="Calibri"/>
              </a:defRPr>
            </a:pPr>
            <a:r>
              <a:t>"Let me show you the difference</a:t>
            </a:r>
            <a:br/>
            <a:r>
              <a:t>between Level 2 and Level 4."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320040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1">
                <a:solidFill>
                  <a:srgbClr val="8BC34A"/>
                </a:solidFill>
                <a:latin typeface="Calibri"/>
              </a:defRPr>
            </a:pPr>
            <a:r>
              <a:t>Level 2: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0" y="32004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SharePoint document summarization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20040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88AACC"/>
                </a:solidFill>
                <a:latin typeface="Calibri"/>
              </a:defRPr>
            </a:pPr>
            <a:r>
              <a:t>2 min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0" y="384048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1">
                <a:solidFill>
                  <a:srgbClr val="FF9800"/>
                </a:solidFill>
                <a:latin typeface="Calibri"/>
              </a:defRPr>
            </a:pPr>
            <a:r>
              <a:t>Level 3: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38404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"How many cases by type?" aggregate query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384048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88AACC"/>
                </a:solidFill>
                <a:latin typeface="Calibri"/>
              </a:defRPr>
            </a:pPr>
            <a:r>
              <a:t>2 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0" y="448056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1">
                <a:solidFill>
                  <a:srgbClr val="F4511E"/>
                </a:solidFill>
                <a:latin typeface="Calibri"/>
              </a:defRPr>
            </a:pPr>
            <a:r>
              <a:t>Level 4: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0" y="44805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The money prompt -- timeline, discrepancies, statements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0" y="448056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88AACC"/>
                </a:solidFill>
                <a:latin typeface="Calibri"/>
              </a:defRPr>
            </a:pPr>
            <a:r>
              <a:t>5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51206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1">
                <a:solidFill>
                  <a:srgbClr val="E53935"/>
                </a:solidFill>
                <a:latin typeface="Calibri"/>
              </a:defRPr>
            </a:pPr>
            <a:r>
              <a:t>Level 5: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0" y="512064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The skeletal survey question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0" y="51206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88AACC"/>
                </a:solidFill>
                <a:latin typeface="Calibri"/>
              </a:defRPr>
            </a:pPr>
            <a:r>
              <a:t>3 min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B2A4A"/>
                </a:solidFill>
                <a:latin typeface="Calibri"/>
              </a:defRPr>
            </a:pPr>
            <a:r>
              <a:t>Surprising Finding: Agent Challenged Its Own Premise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2D2D"/>
                </a:solidFill>
                <a:latin typeface="Calibri"/>
              </a:defRPr>
            </a:pPr>
            <a:r>
              <a:t>A pro-code agent questioned the question -- and was right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Asked about a $146,000 purchase vs a $357,100 assessment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Agent checked the source data: actual assessment was $53,155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Recalculated using verified numbers instead of the prompt's numbers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No other agent questioned the input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28800" y="4206240"/>
            <a:ext cx="8503920" cy="1097280"/>
          </a:xfrm>
          <a:prstGeom prst="round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4251960"/>
            <a:ext cx="81381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2C5F8A"/>
                </a:solidFill>
                <a:latin typeface="Calibri"/>
              </a:defRPr>
            </a:pPr>
            <a:r>
              <a:t>"The assessment value in our records is $53,155, not $357,100 as stated in the question. Using the verified assessment value..."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4864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555555"/>
                </a:solidFill>
                <a:latin typeface="Calibri"/>
              </a:defRPr>
            </a:pPr>
            <a:r>
              <a:t>This is what custom orchestration enables -- but only with iterative testing.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B2A4A"/>
                </a:solidFill>
                <a:latin typeface="Calibri"/>
              </a:defRPr>
            </a:pPr>
            <a:r>
              <a:t>Surprising Finding: False Negative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2D2D"/>
                </a:solidFill>
                <a:latin typeface="Calibri"/>
              </a:defRPr>
            </a:pPr>
            <a:r>
              <a:t>The model retrieved the answer and didn't recognize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Agent called the right tools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Received data containing "two positive drug screens (fentanyl)"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Concluded: "no drug test results exist in the available data"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Invisible to users: tool calls look correct, answer sounds confident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0" y="4114800"/>
            <a:ext cx="4572000" cy="1371600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54480" y="4160520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4CAF50"/>
                </a:solidFill>
                <a:latin typeface="Calibri"/>
              </a:defRPr>
            </a:pPr>
            <a:r>
              <a:t>Tool Output (correct)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4572000"/>
            <a:ext cx="4206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2D2D2D"/>
                </a:solidFill>
                <a:latin typeface="Calibri"/>
              </a:defRPr>
            </a:pPr>
            <a:r>
              <a:t>"two positive drug screens</a:t>
            </a:r>
            <a:br/>
            <a:r>
              <a:t>(fentanyl)"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4114800"/>
            <a:ext cx="4572000" cy="1371600"/>
          </a:xfrm>
          <a:prstGeom prst="round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4160520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E53935"/>
                </a:solidFill>
                <a:latin typeface="Calibri"/>
              </a:defRPr>
            </a:pPr>
            <a:r>
              <a:t>Agent Conclusion (wrong)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4572000"/>
            <a:ext cx="4206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2D2D2D"/>
                </a:solidFill>
                <a:latin typeface="Calibri"/>
              </a:defRPr>
            </a:pPr>
            <a:r>
              <a:t>"no drug test results exist</a:t>
            </a:r>
            <a:br/>
            <a:r>
              <a:t>in the available data"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C62828"/>
                </a:solidFill>
                <a:latin typeface="Calibri"/>
              </a:defRPr>
            </a:pPr>
            <a:r>
              <a:t>This is why you need ground truth testing. You cannot catch this in production.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The Bottom 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D2D2D"/>
                </a:solidFill>
                <a:latin typeface="Calibri"/>
              </a:defRPr>
            </a:pPr>
            <a:r>
              <a:t>Three numbers to remember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2103120"/>
            <a:ext cx="3200400" cy="320040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2286000"/>
            <a:ext cx="3017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libri"/>
              </a:defRPr>
            </a:pPr>
            <a:r>
              <a:t>8/10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3474720"/>
            <a:ext cx="3017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Calibri"/>
              </a:defRPr>
            </a:pPr>
            <a:r>
              <a:t>What you get with</a:t>
            </a:r>
            <a:br/>
            <a:r>
              <a:t>zero engineering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45720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DDEEFF"/>
                </a:solidFill>
                <a:latin typeface="Calibri"/>
              </a:defRPr>
            </a:pPr>
            <a:r>
              <a:t>Levels 1-2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63440" y="2103120"/>
            <a:ext cx="3200400" cy="3200400"/>
          </a:xfrm>
          <a:prstGeom prst="round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79" y="2286000"/>
            <a:ext cx="3017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libri"/>
              </a:defRPr>
            </a:pPr>
            <a:r>
              <a:t>9.5/10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79" y="3474720"/>
            <a:ext cx="3017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Calibri"/>
              </a:defRPr>
            </a:pPr>
            <a:r>
              <a:t>What you get with</a:t>
            </a:r>
            <a:br/>
            <a:r>
              <a:t>purpose-built tools + GPT-4.1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79" y="45720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DDEEFF"/>
                </a:solidFill>
                <a:latin typeface="Calibri"/>
              </a:defRPr>
            </a:pPr>
            <a:r>
              <a:t>Levels 3-4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0" y="2103120"/>
            <a:ext cx="3200400" cy="320040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0" y="2286000"/>
            <a:ext cx="3017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libri"/>
              </a:defRPr>
            </a:pPr>
            <a:r>
              <a:t>Trust</a:t>
            </a:r>
            <a:br/>
            <a:r>
              <a:t>But Verify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3474720"/>
            <a:ext cx="3017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Calibri"/>
              </a:defRPr>
            </a:pPr>
            <a:r>
              <a:t>No score is high enough</a:t>
            </a:r>
            <a:br/>
            <a:r>
              <a:t>to skip human review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45720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DDEEFF"/>
                </a:solidFill>
                <a:latin typeface="Calibri"/>
              </a:defRPr>
            </a:pPr>
            <a:r>
              <a:t>Level 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4864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555555"/>
                </a:solidFill>
                <a:latin typeface="Calibri"/>
              </a:defRPr>
            </a:pPr>
            <a:r>
              <a:t>"The question is not 'should we deploy AI?' The question is 'which level are we operating at, and have we invested accordingly?'"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731520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Calibri"/>
              </a:defRPr>
            </a:pPr>
            <a:r>
              <a:t>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1828800"/>
            <a:ext cx="9418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A0C4E8"/>
                </a:solidFill>
                <a:latin typeface="Calibri"/>
              </a:defRPr>
            </a:pPr>
            <a:r>
              <a:t>Start the conversation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2926080"/>
            <a:ext cx="6675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Calibri"/>
              </a:defRPr>
            </a:pPr>
            <a:r>
              <a:t>Where do your use cases fall on the spectrum?</a:t>
            </a:r>
          </a:p>
        </p:txBody>
      </p:sp>
      <p:sp>
        <p:nvSpPr>
          <p:cNvPr id="5" name="Oval 4"/>
          <p:cNvSpPr/>
          <p:nvPr/>
        </p:nvSpPr>
        <p:spPr>
          <a:xfrm>
            <a:off x="2286000" y="3063240"/>
            <a:ext cx="182880" cy="182880"/>
          </a:xfrm>
          <a:prstGeom prst="ellipse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0" y="3657600"/>
            <a:ext cx="6675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Calibri"/>
              </a:defRPr>
            </a:pPr>
            <a:r>
              <a:t>What data do you already have in structured form?</a:t>
            </a:r>
          </a:p>
        </p:txBody>
      </p:sp>
      <p:sp>
        <p:nvSpPr>
          <p:cNvPr id="7" name="Oval 6"/>
          <p:cNvSpPr/>
          <p:nvPr/>
        </p:nvSpPr>
        <p:spPr>
          <a:xfrm>
            <a:off x="2286000" y="3794760"/>
            <a:ext cx="182880" cy="182880"/>
          </a:xfrm>
          <a:prstGeom prst="ellipse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0" y="4389120"/>
            <a:ext cx="6675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Calibri"/>
              </a:defRPr>
            </a:pPr>
            <a:r>
              <a:t>What's your risk tolerance for AI-generated output?</a:t>
            </a:r>
          </a:p>
        </p:txBody>
      </p:sp>
      <p:sp>
        <p:nvSpPr>
          <p:cNvPr id="9" name="Oval 8"/>
          <p:cNvSpPr/>
          <p:nvPr/>
        </p:nvSpPr>
        <p:spPr>
          <a:xfrm>
            <a:off x="2286000" y="4526280"/>
            <a:ext cx="182880" cy="182880"/>
          </a:xfrm>
          <a:prstGeom prst="ellipse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0" y="5120640"/>
            <a:ext cx="6675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Calibri"/>
              </a:defRPr>
            </a:pPr>
            <a:r>
              <a:t>Ready for a deeper dive? We have the architecture, the test data, and the framework.</a:t>
            </a:r>
          </a:p>
        </p:txBody>
      </p:sp>
      <p:sp>
        <p:nvSpPr>
          <p:cNvPr id="11" name="Oval 10"/>
          <p:cNvSpPr/>
          <p:nvPr/>
        </p:nvSpPr>
        <p:spPr>
          <a:xfrm>
            <a:off x="2286000" y="5257800"/>
            <a:ext cx="182880" cy="182880"/>
          </a:xfrm>
          <a:prstGeom prst="ellipse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5669280"/>
            <a:ext cx="9418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A0C4E8"/>
                </a:solidFill>
                <a:latin typeface="Calibri"/>
              </a:defRPr>
            </a:pPr>
            <a:r>
              <a:t>I'm not here to sell you a product. I'm here to help you make the right investment for your mission.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