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demo, or one of my many ALM demos. Those demos and this one have something in common: I like to build test harnesses for real-world use cases my customers care about. And they all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story on one slide. Everything that follows is how we got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You'll see these names on every chart going forward. The important thing is the spectrum: on the left, you're up and running in an afternoon. On the right, you have full control. The question is which level of fidelity you need -- and that's what the rest of this talk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policy lookup chatbot that hallucinates a deadline is annoying. A legal case prep tool that misses a discrepancy can change an outcome. The framework we're about to walk through helps you match your engineering investment to the stakes of the use case -- so you know when 'good enough' really is good enough, and when it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Copilot Studio is not just for Levels 1-3. We proved 9/10 at Level 4 with document agents in GCC using GPT-4o -- no code, just better documents. The gap is only for structured data queries where model selection matters. 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50 cases are synthetic -- we control the ground truth for every prompt. The 0-10 scale distinguishes between an agent that found the right case but missed one detail (8-9) versus one that got half the answer (5) versus one that confidently gave the wrong answer (0). During the live demo, I paste agent responses into Claude Code and it grades them in real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relatable prompt in the deck. Everyone understands 'did the parent tell the same story to the nurse and the police?' Raw docs: agent only found the Sheriff Report. Cross-refs: found both sources but couldn't retrieve the nursing notes detail. Metadata: the keywords 'nursing interview' and 'parent statements' on Medical Records told the agent exactly where to look. $0, 45 minutes, no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462 data points. The pattern is clear: the model and the data matter more than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Fidelity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462 Test Runs Across 21 Agent Configurations and 6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28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462 test runs  |  21 agents  |  6 models  |  28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462 test runs across 21 agent configurations and 6 models, 2 government use cases, and 7 testing rounds. Three gaps emerged at the higher levels: tools, data, and model. Every gap was fixable, and none required AI expertise.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3474720" cy="128016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137160" cy="128016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C34A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Just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8/10 with zero customization.</a:t>
            </a:r>
            <a:br/>
            <a:r>
              <a:t>Model choice irrelevant.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194560"/>
            <a:ext cx="3474720" cy="12801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2194560"/>
            <a:ext cx="13716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Data Over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MCP outperformed document search</a:t>
            </a:r>
            <a:br/>
            <a:r>
              <a:t>on every aggregate query.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703320"/>
            <a:ext cx="3474720" cy="128016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3703320"/>
            <a:ext cx="137160" cy="128016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511E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The Inflection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Three gaps emerged: tools, data,</a:t>
            </a:r>
            <a:br/>
            <a:r>
              <a:t>and model. All fixable.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3703320"/>
            <a:ext cx="3474720" cy="128016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3703320"/>
            <a:ext cx="137160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3935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Human in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High fidelity at L4 means humans</a:t>
            </a:r>
            <a:br/>
            <a:r>
              <a:t>review conclusions, not raw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2194560"/>
            <a:ext cx="2560320" cy="30175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0" y="2194560"/>
            <a:ext cx="91440" cy="3017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3317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743200"/>
            <a:ext cx="32004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743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200400"/>
            <a:ext cx="320040" cy="32004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3200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Summarization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657600"/>
            <a:ext cx="320040" cy="32004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19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Operational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4114800"/>
            <a:ext cx="320040" cy="32004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4572000"/>
            <a:ext cx="320040" cy="3200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19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Adjudicative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50 cases, 277 people, 333 events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15 agent configurations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34M rows, 584K properties, 1.6M violations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8 agent configurations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Two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Two real government scenarios, twenty-one agent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50 synthetic legal cases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277 people, 333 timeline events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338 statements, 151 discrepancies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prepare a case for an attorney as well as a paralegal?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34 million rows of property data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584K properties, 1.6M violations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surface patterns an investigator would otherwise miss?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Both use cases came from real customer conversations. The data is synthetic but the structure mirrors production systems.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This Was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solution engineer. One AI coding assistant. Four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Human-Directed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Architecture decisions, Azure</a:t>
            </a:r>
            <a:br/>
            <a:r>
              <a:t>service selection, schema design,</a:t>
            </a:r>
            <a:br/>
            <a:r>
              <a:t>security posture, and the five-level</a:t>
            </a:r>
            <a:br/>
            <a:r>
              <a:t>fidelity framework came from</a:t>
            </a:r>
            <a:br/>
            <a:r>
              <a:t>domain expertise and customer</a:t>
            </a:r>
            <a:br/>
            <a:r>
              <a:t>conversations.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AI-Accelerated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TypeScript Functions, MCP server,</a:t>
            </a:r>
            <a:br/>
            <a:r>
              <a:t>SQL schema, 50 synthetic cases,</a:t>
            </a:r>
            <a:br/>
            <a:r>
              <a:t>web UI, six PDF generators, and</a:t>
            </a:r>
            <a:br/>
            <a:r>
              <a:t>this deck were generated by AI</a:t>
            </a:r>
            <a:br/>
            <a:r>
              <a:t>and reviewed by a human.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462 test runs across 21 agent</a:t>
            </a:r>
            <a:br/>
            <a:r>
              <a:t>configurations and 6 models,</a:t>
            </a:r>
            <a:br/>
            <a:r>
              <a:t>scored by hand.</a:t>
            </a:r>
            <a:br/>
            <a:r>
              <a:t>Every dangerous response was</a:t>
            </a:r>
            <a:br/>
            <a:r>
              <a:t>caught through manual review.</a:t>
            </a:r>
            <a:br/>
            <a:r>
              <a:t>That is exactly the point</a:t>
            </a:r>
            <a:br/>
            <a:r>
              <a:t>of Level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We practiced what we preach. This entire project is Level 5: AI-accelerated, human-verified.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Meet the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21 configurations, 3 approaches, 1 set of test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3291840" cy="34747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Zero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Three JSON manifest files</a:t>
            </a:r>
            <a:br/>
            <a:r>
              <a:t>pointing at the MCP server.</a:t>
            </a:r>
            <a:br/>
            <a:r>
              <a:t>Platform picks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1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920240"/>
            <a:ext cx="3291840" cy="347472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Configure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Copilot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SharePoint docs, knowledge base,</a:t>
            </a:r>
            <a:br/>
            <a:r>
              <a:t>MCP server, or Dataverse --</a:t>
            </a:r>
            <a:br/>
            <a:r>
              <a:t>same platform, different</a:t>
            </a:r>
            <a:br/>
            <a:r>
              <a:t>data 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9800"/>
                </a:solidFill>
                <a:latin typeface="Calibri"/>
              </a:defRPr>
            </a:pPr>
            <a:r>
              <a:t>12 configurations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291840" cy="34747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Build It Yourself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Pro-Code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Case Analyst (TypeScript)</a:t>
            </a:r>
            <a:br/>
            <a:r>
              <a:t>Investigative Agent (OpenAI SDK)</a:t>
            </a:r>
            <a:br/>
            <a:r>
              <a:t>Triage Agent (Semantic Kernel)</a:t>
            </a:r>
            <a:br/>
            <a:r>
              <a:t>Foundry Agent (Agent Service)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357ABD"/>
                </a:solidFill>
                <a:latin typeface="Calibri"/>
              </a:defRPr>
            </a:pPr>
            <a:r>
              <a:t>8 configurations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Same prompts. Same ground truth. The only variable is how you build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excel at single-case analysis (10/10) but can't count, sum, or filter across a full dataset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 -- these require structured data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-- both Copilot Studio MCP and pro-code -- answer every aggregate query correctly when paired with a capable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currently defaults to GPT-4o; expanded model availability on the roadmap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8/10 to 10/10 --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across all 10 prompts with document hygiene alone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462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Six agents reached 9-10 out of 10 after iterative improvement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4183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  <a:gridCol w="28346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0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SP/PDF/GCC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KB/DOCX/Com (Copilot Studio)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Fuzzy-match tool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 rounds: tools+data+model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first two rows required zero engineering -- just document hygiene.</a:t>
            </a:r>
            <a:br/>
            <a:r>
              <a:t>The rest required iterative tool and data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fidelity when you control the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fidelity.</a:t>
            </a:r>
            <a:br/>
            <a:r>
              <a:t>Fidelity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Models with strong multi-step reasoning (GPT-4.1 in our testing).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Copilot Studio works at every level -- the levers differ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201168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201168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C34A"/>
                </a:solidFill>
                <a:latin typeface="Calibri"/>
              </a:defRPr>
            </a:pPr>
            <a:r>
              <a:t>Levels 1-3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06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Copilot Studio,</a:t>
            </a:r>
            <a:br/>
            <a:r>
              <a:t>any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201168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63440" y="2103120"/>
            <a:ext cx="137160" cy="201168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59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4511E"/>
                </a:solidFill>
                <a:latin typeface="Calibri"/>
              </a:defRPr>
            </a:pPr>
            <a:r>
              <a:t>Level 4 (Documents)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59" y="2606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Copilot Studio +</a:t>
            </a:r>
            <a:br/>
            <a:r>
              <a:t>good document hygiene</a:t>
            </a:r>
            <a:br/>
            <a:r>
              <a:t>(9/10 proven, GPT-4o, GCC)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2011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2103120"/>
            <a:ext cx="137160" cy="20116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5F8A"/>
                </a:solidFill>
                <a:latin typeface="Calibri"/>
              </a:defRPr>
            </a:pPr>
            <a:r>
              <a:t>Level 4-5 (Structured Data)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606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Model selection matters</a:t>
            </a:r>
            <a:br/>
            <a:r>
              <a:t>Sonnet 4.6 = 11/11 (Commercial)</a:t>
            </a:r>
            <a:br/>
            <a:r>
              <a:t>GPT-4.1 via Azure OpenAI (GCC)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389120"/>
            <a:ext cx="9966960" cy="1371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4389120"/>
            <a:ext cx="137160" cy="13716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4434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The GCC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754880"/>
            <a:ext cx="8961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D2D2D"/>
                </a:solidFill>
                <a:latin typeface="Calibri"/>
              </a:rPr>
              <a:t>Model selection not yet available in GCC Copilot Studio -- document quality is your lever today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D2D2D"/>
                </a:solidFill>
                <a:latin typeface="Calibri"/>
              </a:rPr>
              <a:t>When expanded model availability arrives, every agent improves overnight with zero changes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D2D2D"/>
                </a:solidFill>
                <a:latin typeface="Calibri"/>
              </a:rPr>
              <a:t>Start building ground truth test suites now so you are ready to measure the improvement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We Score: Ground Truth Grading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Every grade is verifiable -- we wrote the 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011680"/>
          <a:ext cx="5303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286000"/>
                <a:gridCol w="23774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Fully correct, complete, sourced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facts match, sources cited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8-9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Correct, one minor detail missing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statements found, missed one page ref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Partially correct or incomplete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 one of two sources, or wrong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1-4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Significant gaps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Right case, missed key facts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or dangerously confident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Real citation, wrong conclusion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Process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2377440"/>
            <a:ext cx="41148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56032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Each prompt scored 0-10 against ground truth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One run per agent, per-prompt scores averaged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Same prompt to every agent -- side by side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Graded by Claude against ground truth (live)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462 test runs, 21 agents, 6 models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937760"/>
            <a:ext cx="9966960" cy="914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4937760"/>
            <a:ext cx="137160" cy="914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502920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"We grade against data we wrote. Every correct answer is verifiable. Every wrong answer is provably wrong -- not a matter of interpretation."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C4E8"/>
                </a:solidFill>
                <a:latin typeface="Calibri"/>
              </a:defRPr>
            </a:pPr>
            <a:r>
              <a:t>"Same agent. Change one variable. Watch the result change."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1: Document Quality  (~10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3 agents, same model, 3 SharePoint libraries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Raw  -&gt;  Cross-Referenced  -&gt;  Enriched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Skeletal survey: FAIL -&gt; PASS -&gt;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Marcus Webb: FAIL -&gt; PARTIAL -&gt;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Score arc: 3/10 -&gt; 7/10 -&gt; 8/10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Cost: $0, 45 minutes of document hygiene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2: Model Selection  (~8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1 Dataverse MCP agent, swap model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GPT-4o  -&gt;  Sonnet 4.6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TPR case filter: 0 -&gt;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Cross-doc reasoning: 0 -&gt;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Time gap calculation: 0 -&gt;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Full battery: 3.2/11 -&gt; 6/11 -&gt; 11/11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8AACC"/>
                </a:solidFill>
                <a:latin typeface="Calibri"/>
              </a:defRPr>
            </a:pPr>
            <a:r>
              <a:t>All demos run in Copilot Studio -- no custom code UI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One Prompt, Three Interventions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234440"/>
            <a:ext cx="9966960" cy="6400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"What did Marcus Webb tell hospital staff about when he put Jaylen to bed, and did he give the same answer to law enforcement?"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3383280" cy="338328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3383280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Raw Documents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2606040"/>
            <a:ext cx="1280160" cy="3657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Sheriff Report interview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Missed: Nursing notes in Medical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The agent has no reason to look</a:t>
            </a:r>
            <a:br/>
            <a:r>
              <a:t>in a medical record for</a:t>
            </a:r>
            <a:br/>
            <a:r>
              <a:t>parent statements.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057400"/>
            <a:ext cx="3383280" cy="338328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057400"/>
            <a:ext cx="338328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Cross-Referenced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2606040"/>
            <a:ext cx="1280160" cy="36576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sources identified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A825"/>
                </a:solidFill>
                <a:latin typeface="Calibri"/>
              </a:defRPr>
            </a:pPr>
            <a:r>
              <a:t>Missed: Specific nursing note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Cross-reference header points to</a:t>
            </a:r>
            <a:br/>
            <a:r>
              <a:t>Medical Records, but the agent</a:t>
            </a:r>
            <a:br/>
            <a:r>
              <a:t>still can't find nursing notes.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57400"/>
            <a:ext cx="3383280" cy="33832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2057400"/>
            <a:ext cx="3383280" cy="10972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Enriched +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606040"/>
            <a:ext cx="128016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statements, correct times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CAF50"/>
                </a:solidFill>
                <a:latin typeface="Calibri"/>
              </a:defRPr>
            </a:pPr>
            <a:r>
              <a:t>Missed: Nothing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SP metadata: "nursing interview,</a:t>
            </a:r>
            <a:br/>
            <a:r>
              <a:t>parent statements" on Medical</a:t>
            </a:r>
            <a:br/>
            <a:r>
              <a:t>Records enables retrieval.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160520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909559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371600" y="5623560"/>
            <a:ext cx="9418320" cy="50292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5623560"/>
            <a:ext cx="109728" cy="50292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0" y="566928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Calibri"/>
              </a:defRPr>
            </a:pPr>
            <a:r>
              <a:t>Cross-references fix reasoning errors. Metadata fixes retrieval errors. You need both.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Full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462 test runs, 21 agent configurations, 6 models, 2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1: Legal Case Analysis (16 agents)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57400"/>
          <a:ext cx="4297680" cy="699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Case Analyst (pro-code)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Reasoning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Auto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3.2/10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2: Investigative Analytics (8 agents)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2057400"/>
          <a:ext cx="42976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(Semantic Kernel)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60350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55555"/>
                </a:solidFill>
                <a:latin typeface="Calibri"/>
              </a:defRPr>
            </a:pPr>
            <a:r>
              <a:t>Dataverse MCP (5 models): Sonnet 4.6 (10/10), GPT-5 Reasoning (10/10), GPT-4.1 (6/10), GPT-5 Auto (4/10), GPT-4o (3.2/10). Reasoning models close the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