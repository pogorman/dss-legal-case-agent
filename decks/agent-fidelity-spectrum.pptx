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Some of you may remember me from such demos as the delegation demo, or one of my many ALM demos. Those demos and this one have something in common: I like to build test harnesses for real-world use cases my customers care about. And they all deal with the same fundamental topic: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whole story on one slide. Everything that follows is how we got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You'll see these names on every chart going forward. The important thing is the spectrum: on the left, you're up and running in an afternoon. On the right, you have full control. The question is which level of fidelity you need -- and that's what the rest of this talk is about.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policy lookup chatbot that hallucinates a deadline is annoying. A legal case prep tool that misses a discrepancy can change an outcome. The framework we're about to walk through helps you match your engineering investment to the stakes of the use case -- so you know when 'good enough' really is good enough, and when it isn't.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model is the single biggest variable at Level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Tool design is as important as model selection. Maybe more.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Connect to daily experience: Copilot helps you draft an email -- you review it. Copilot helps you write code -- you review it. Why would we skip human review at any of these five levels, especially Level 5 where the stakes are a family's future?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critical for the tech series. MUST articulate the platform value, not just the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Know what works today. Plan for what's coming.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50 cases are synthetic -- we control the ground truth for every prompt. The 0-10 scale distinguishes between an agent that found the right case but missed one detail (8-9) versus one that got half the answer (5) versus one that confidently gave the wrong answer (0). During the live demo, I paste agent responses into Claude Code and it grades them in real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most relatable prompt in the deck. Everyone understands 'did the parent tell the same story to the nurse and the police?' Raw docs: agent only found the Sheriff Report. Cross-refs: found both sources but couldn't retrieve the nursing notes detail. Metadata: the keywords 'nursing interview' and 'parent statements' on Medical Records told the agent exactly where to look. $0, 45 minutes, no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 what do we do? Do we just give up on agents? No -- you continue to test them and make them better, and you always adhere to trust but verify. I have agents building apps for me right now. If I were building production enterprise apps, I'd have a team of human developers checking the work, helping test, reviewing agentic results. The AI accelerates the team. The team validates the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462 data points. The pattern is clear: the model and the data matter more than the platform.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AI Agent Fidelity</a:t>
            </a:r>
            <a:br/>
            <a:r>
              <a:t>for Government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2377440"/>
            <a:ext cx="7589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A0C4E8"/>
                </a:solidFill>
                <a:latin typeface="Calibri"/>
              </a:defRPr>
            </a:pPr>
            <a:r>
              <a:t>A Five-Level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01752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AACC"/>
                </a:solidFill>
                <a:latin typeface="Calibri"/>
              </a:defRPr>
            </a:pPr>
            <a:r>
              <a:t>Findings from 462 Test Runs Across 21 Agent Configurations and 6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438912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55555"/>
                </a:solidFill>
                <a:latin typeface="Calibri"/>
              </a:defRPr>
            </a:pPr>
            <a:r>
              <a:t>28 Slides  |  March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327" y="51206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41167" y="51206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90007" y="51206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38847" y="51206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87687" y="51206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76072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57ABD"/>
                </a:solidFill>
                <a:latin typeface="Calibri"/>
              </a:defRPr>
            </a:pPr>
            <a:r>
              <a:t>462 test runs  |  21 agents  |  6 models  |  28 slides  |  2 use cases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At a Glance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D2D2D"/>
                </a:solidFill>
                <a:latin typeface="Calibri"/>
              </a:defRPr>
            </a:pPr>
            <a:r>
              <a:t>462 test runs across 21 agent configurations and 6 models, 2 government use cases, and 7 testing rounds. Three gaps emerged at the higher levels: tools, data, and model. Every gap was fixable, and none required AI expertise.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194560"/>
            <a:ext cx="3474720" cy="1280160"/>
          </a:xfrm>
          <a:prstGeom prst="roundRect">
            <a:avLst/>
          </a:prstGeom>
          <a:solidFill>
            <a:srgbClr val="F1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2194560"/>
            <a:ext cx="137160" cy="1280160"/>
          </a:xfrm>
          <a:prstGeom prst="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2860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8BC34A"/>
                </a:solidFill>
                <a:latin typeface="Calibri"/>
              </a:defRPr>
            </a:pPr>
            <a:r>
              <a:t>Levels 1-2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5146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D2D2D"/>
                </a:solidFill>
                <a:latin typeface="Calibri"/>
              </a:defRPr>
            </a:pPr>
            <a:r>
              <a:t>Just Works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834639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55"/>
                </a:solidFill>
                <a:latin typeface="Calibri"/>
              </a:defRPr>
            </a:pPr>
            <a:r>
              <a:t>8/10 with zero customization.</a:t>
            </a:r>
            <a:br/>
            <a:r>
              <a:t>Model choice irrelevant.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46320" y="2194560"/>
            <a:ext cx="3474720" cy="128016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846320" y="2194560"/>
            <a:ext cx="137160" cy="128016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0" y="22860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9800"/>
                </a:solidFill>
                <a:latin typeface="Calibri"/>
              </a:defRPr>
            </a:pPr>
            <a:r>
              <a:t>Level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25146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D2D2D"/>
                </a:solidFill>
                <a:latin typeface="Calibri"/>
              </a:defRPr>
            </a:pPr>
            <a:r>
              <a:t>Data Over Documents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2834639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55"/>
                </a:solidFill>
                <a:latin typeface="Calibri"/>
              </a:defRPr>
            </a:pPr>
            <a:r>
              <a:t>MCP outperformed document search</a:t>
            </a:r>
            <a:br/>
            <a:r>
              <a:t>on every aggregate query.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97280" y="3703320"/>
            <a:ext cx="3474720" cy="1280160"/>
          </a:xfrm>
          <a:prstGeom prst="roundRect">
            <a:avLst/>
          </a:prstGeom>
          <a:solidFill>
            <a:srgbClr val="FBE9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97280" y="3703320"/>
            <a:ext cx="137160" cy="1280160"/>
          </a:xfrm>
          <a:prstGeom prst="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379475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4511E"/>
                </a:solidFill>
                <a:latin typeface="Calibri"/>
              </a:defRPr>
            </a:pPr>
            <a:r>
              <a:t>Level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23359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D2D2D"/>
                </a:solidFill>
                <a:latin typeface="Calibri"/>
              </a:defRPr>
            </a:pPr>
            <a:r>
              <a:t>The Inflection Point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3434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55"/>
                </a:solidFill>
                <a:latin typeface="Calibri"/>
              </a:defRPr>
            </a:pPr>
            <a:r>
              <a:t>Three gaps emerged: tools, data,</a:t>
            </a:r>
            <a:br/>
            <a:r>
              <a:t>and model. All fixable.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46320" y="3703320"/>
            <a:ext cx="3474720" cy="1280160"/>
          </a:xfrm>
          <a:prstGeom prst="roundRect">
            <a:avLst/>
          </a:prstGeom>
          <a:solidFill>
            <a:srgbClr val="F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846320" y="3703320"/>
            <a:ext cx="137160" cy="128016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20640" y="379475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53935"/>
                </a:solidFill>
                <a:latin typeface="Calibri"/>
              </a:defRPr>
            </a:pPr>
            <a:r>
              <a:t>Level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4023359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D2D2D"/>
                </a:solidFill>
                <a:latin typeface="Calibri"/>
              </a:defRPr>
            </a:pPr>
            <a:r>
              <a:t>Human in the Loop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43434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55"/>
                </a:solidFill>
                <a:latin typeface="Calibri"/>
              </a:defRPr>
            </a:pPr>
            <a:r>
              <a:t>High fidelity at L4 means humans</a:t>
            </a:r>
            <a:br/>
            <a:r>
              <a:t>review conclusions, not raw data.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778240" y="2194560"/>
            <a:ext cx="2560320" cy="301752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778240" y="2194560"/>
            <a:ext cx="91440" cy="30175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6840" y="233172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B2A4A"/>
                </a:solidFill>
                <a:latin typeface="Calibri"/>
              </a:defRPr>
            </a:pPr>
            <a:r>
              <a:t>The Five Levels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06840" y="2743200"/>
            <a:ext cx="320040" cy="32004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L1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19" y="27432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Discovery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3200400"/>
            <a:ext cx="320040" cy="32004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L2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19" y="32004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Summarization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006840" y="3657600"/>
            <a:ext cx="320040" cy="32004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L3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18319" y="36576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Operational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006840" y="4114800"/>
            <a:ext cx="320040" cy="32004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L4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18319" y="41148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Investigative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006840" y="4572000"/>
            <a:ext cx="320040" cy="32004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L5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18319" y="45720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Adjudicative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97280" y="5349240"/>
            <a:ext cx="4754880" cy="868680"/>
          </a:xfrm>
          <a:prstGeom prst="round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97280" y="5349240"/>
            <a:ext cx="137160" cy="868680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371600" y="5394959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57ABD"/>
                </a:solidFill>
                <a:latin typeface="Calibri"/>
              </a:defRPr>
            </a:pPr>
            <a:r>
              <a:t>Use Case 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71600" y="55961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D2D"/>
                </a:solidFill>
                <a:latin typeface="Calibri"/>
              </a:defRPr>
            </a:pPr>
            <a:r>
              <a:t>Legal Case Analysis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71600" y="5852159"/>
            <a:ext cx="4206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50 cases, 277 people, 333 events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71600" y="6007607"/>
            <a:ext cx="4206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2D2D"/>
                </a:solidFill>
                <a:latin typeface="Calibri"/>
              </a:defRPr>
            </a:pPr>
            <a:r>
              <a:t>15 agent configurations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17920" y="5349240"/>
            <a:ext cx="4754880" cy="868680"/>
          </a:xfrm>
          <a:prstGeom prst="round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217920" y="5349240"/>
            <a:ext cx="137160" cy="868680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92240" y="5394959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57ABD"/>
                </a:solidFill>
                <a:latin typeface="Calibri"/>
              </a:defRPr>
            </a:pPr>
            <a:r>
              <a:t>Use Case 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55961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D2D"/>
                </a:solidFill>
                <a:latin typeface="Calibri"/>
              </a:defRPr>
            </a:pPr>
            <a:r>
              <a:t>Investigative Analytics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92240" y="5852159"/>
            <a:ext cx="4206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34M rows, 584K properties, 1.6M violations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92240" y="6007607"/>
            <a:ext cx="4206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2D2D"/>
                </a:solidFill>
                <a:latin typeface="Calibri"/>
              </a:defRPr>
            </a:pPr>
            <a:r>
              <a:t>8 agent configurations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Two Use Cases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Two real government scenarios, twenty-one agent configurations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103120"/>
            <a:ext cx="4937760" cy="3200400"/>
          </a:xfrm>
          <a:prstGeom prst="round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2103120"/>
            <a:ext cx="137160" cy="3200400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19456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Calibri"/>
              </a:defRPr>
            </a:pPr>
            <a:r>
              <a:t>Legal Case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743200"/>
            <a:ext cx="4389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50 synthetic legal cases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277 people, 333 timeline events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338 statements, 151 discrepancies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Can an AI agent prepare a case for an attorney as well as a paralegal?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2103120"/>
            <a:ext cx="4937760" cy="3200400"/>
          </a:xfrm>
          <a:prstGeom prst="round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2103120"/>
            <a:ext cx="137160" cy="3200400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19456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Calibri"/>
              </a:defRPr>
            </a:pPr>
            <a:r>
              <a:t>Investigative Analytics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743200"/>
            <a:ext cx="4389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34 million rows of property data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584K properties, 1.6M violations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Can an AI agent surface patterns an investigator would otherwise miss?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4864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555555"/>
                </a:solidFill>
                <a:latin typeface="Calibri"/>
              </a:defRPr>
            </a:pPr>
            <a:r>
              <a:t>Both use cases came from real customer conversations. The data is synthetic but the structure mirrors production systems.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How This Was Built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One solution engineer. One AI coding assistant. Four weeks.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103120"/>
            <a:ext cx="3200400" cy="320040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2860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Human-Directed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926080"/>
            <a:ext cx="2834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Architecture decisions, Azure</a:t>
            </a:r>
            <a:br/>
            <a:r>
              <a:t>service selection, schema design,</a:t>
            </a:r>
            <a:br/>
            <a:r>
              <a:t>security posture, and the five-level</a:t>
            </a:r>
            <a:br/>
            <a:r>
              <a:t>fidelity framework came from</a:t>
            </a:r>
            <a:br/>
            <a:r>
              <a:t>domain expertise and customer</a:t>
            </a:r>
            <a:br/>
            <a:r>
              <a:t>conversations.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2103120"/>
            <a:ext cx="3200400" cy="320040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0" y="22860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AI-Accelerated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2926080"/>
            <a:ext cx="2834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TypeScript Functions, MCP server,</a:t>
            </a:r>
            <a:br/>
            <a:r>
              <a:t>SQL schema, 50 synthetic cases,</a:t>
            </a:r>
            <a:br/>
            <a:r>
              <a:t>web UI, six PDF generators, and</a:t>
            </a:r>
            <a:br/>
            <a:r>
              <a:t>this deck were generated by AI</a:t>
            </a:r>
            <a:br/>
            <a:r>
              <a:t>and reviewed by a human.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2103120"/>
            <a:ext cx="3200400" cy="3200400"/>
          </a:xfrm>
          <a:prstGeom prst="roundRect">
            <a:avLst/>
          </a:prstGeom>
          <a:solidFill>
            <a:srgbClr val="4295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0" y="22860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Human-Verified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2926080"/>
            <a:ext cx="2834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462 test runs across 21 agent</a:t>
            </a:r>
            <a:br/>
            <a:r>
              <a:t>configurations and 6 models,</a:t>
            </a:r>
            <a:br/>
            <a:r>
              <a:t>scored by hand.</a:t>
            </a:r>
            <a:br/>
            <a:r>
              <a:t>Every dangerous response was</a:t>
            </a:r>
            <a:br/>
            <a:r>
              <a:t>caught through manual review.</a:t>
            </a:r>
            <a:br/>
            <a:r>
              <a:t>That is exactly the point</a:t>
            </a:r>
            <a:br/>
            <a:r>
              <a:t>of Level 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4864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555555"/>
                </a:solidFill>
                <a:latin typeface="Calibri"/>
              </a:defRPr>
            </a:pPr>
            <a:r>
              <a:t>We practiced what we preach. This entire project is Level 5: AI-accelerated, human-verified.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Meet the Agents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21 configurations, 3 approaches, 1 set of test prompts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920240"/>
            <a:ext cx="3291840" cy="347472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0116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Zero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5146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DDEEFF"/>
                </a:solidFill>
                <a:latin typeface="Calibri"/>
              </a:defRPr>
            </a:pPr>
            <a:r>
              <a:t>M365 Copilot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971800"/>
            <a:ext cx="2926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Calibri"/>
              </a:defRPr>
            </a:pPr>
            <a:r>
              <a:t>Three JSON manifest files</a:t>
            </a:r>
            <a:br/>
            <a:r>
              <a:t>pointing at the MCP server.</a:t>
            </a:r>
            <a:br/>
            <a:r>
              <a:t>Platform picks the model.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63040" y="4754880"/>
            <a:ext cx="219456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300" b="1">
                <a:solidFill>
                  <a:srgbClr val="4CAF50"/>
                </a:solidFill>
                <a:latin typeface="Calibri"/>
              </a:defRPr>
            </a:pPr>
            <a:r>
              <a:t>1 configuration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1920240"/>
            <a:ext cx="3291840" cy="347472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0116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Configure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5146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DDEEFF"/>
                </a:solidFill>
                <a:latin typeface="Calibri"/>
              </a:defRPr>
            </a:pPr>
            <a:r>
              <a:t>Copilot Studio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971800"/>
            <a:ext cx="2926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Calibri"/>
              </a:defRPr>
            </a:pPr>
            <a:r>
              <a:t>SharePoint docs, knowledge base,</a:t>
            </a:r>
            <a:br/>
            <a:r>
              <a:t>MCP server, or Dataverse --</a:t>
            </a:r>
            <a:br/>
            <a:r>
              <a:t>same platform, different</a:t>
            </a:r>
            <a:br/>
            <a:r>
              <a:t>data sources.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4754880"/>
            <a:ext cx="219456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300" b="1">
                <a:solidFill>
                  <a:srgbClr val="FF9800"/>
                </a:solidFill>
                <a:latin typeface="Calibri"/>
              </a:defRPr>
            </a:pPr>
            <a:r>
              <a:t>12 configurations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920240"/>
            <a:ext cx="3291840" cy="347472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20116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Build It Yourself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5146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DDEEFF"/>
                </a:solidFill>
                <a:latin typeface="Calibri"/>
              </a:defRPr>
            </a:pPr>
            <a:r>
              <a:t>Pro-Code Agents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971800"/>
            <a:ext cx="2926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Calibri"/>
              </a:defRPr>
            </a:pPr>
            <a:r>
              <a:t>Case Analyst (TypeScript)</a:t>
            </a:r>
            <a:br/>
            <a:r>
              <a:t>Investigative Agent (OpenAI SDK)</a:t>
            </a:r>
            <a:br/>
            <a:r>
              <a:t>Triage Agent (Semantic Kernel)</a:t>
            </a:r>
            <a:br/>
            <a:r>
              <a:t>Foundry Agent (Agent Service)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95360" y="4754880"/>
            <a:ext cx="219456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300" b="1">
                <a:solidFill>
                  <a:srgbClr val="357ABD"/>
                </a:solidFill>
                <a:latin typeface="Calibri"/>
              </a:defRPr>
            </a:pPr>
            <a:r>
              <a:t>8 configurations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553212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555555"/>
                </a:solidFill>
                <a:latin typeface="Calibri"/>
              </a:defRPr>
            </a:pPr>
            <a:r>
              <a:t>Same prompts. Same ground truth. The only variable is how you build it.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Question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46304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B2A4A"/>
                </a:solidFill>
                <a:latin typeface="Calibri"/>
              </a:defRPr>
            </a:pPr>
            <a:r>
              <a:t>"Not all AI use cases are created equal."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5603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Your policy lookup chatbot and your legal case preparation tool have fundamentally different accuracy requirements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This framework helps you decide where to deploy aggressively, where to add guardrails, and where human review is non-negotiable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4572000"/>
            <a:ext cx="9418320" cy="7315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240280" y="4343400"/>
            <a:ext cx="457200" cy="457200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599432" y="4343400"/>
            <a:ext cx="457200" cy="457200"/>
          </a:xfrm>
          <a:prstGeom prst="ellipse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958584" y="4343400"/>
            <a:ext cx="457200" cy="457200"/>
          </a:xfrm>
          <a:prstGeom prst="ellipse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317736" y="4343400"/>
            <a:ext cx="457200" cy="457200"/>
          </a:xfrm>
          <a:prstGeom prst="ellipse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676888" y="4343400"/>
            <a:ext cx="457200" cy="457200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754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CAF50"/>
                </a:solidFill>
                <a:latin typeface="Calibri"/>
              </a:defRPr>
            </a:pPr>
            <a:r>
              <a:t>Low Stakes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4754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E53935"/>
                </a:solidFill>
                <a:latin typeface="Calibri"/>
              </a:defRPr>
            </a:pPr>
            <a:r>
              <a:t>High Stakes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Five Levels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97280" y="1463040"/>
          <a:ext cx="99669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011680"/>
                <a:gridCol w="2743200"/>
                <a:gridCol w="429768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Level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Name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Stakes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Example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4CAF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Discovery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Inconvenience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"Find our leave policy"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8BC3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Summarization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Wasted time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"Summarize this audit report"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F98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Operational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Misallocated resources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"How many open cases by type?"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451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Investigative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Missed evidence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"Build a timeline from these records"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E539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Adjudicative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Wrong legal outcome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"Prepare facts for this hearing"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97280" y="48463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57ABD"/>
                </a:solidFill>
                <a:latin typeface="Calibri"/>
              </a:defRPr>
            </a:pPr>
            <a:r>
              <a:t>Where does your highest-priority use case fall?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Levels 1-2: The Quick Win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2D2D"/>
                </a:solidFill>
                <a:latin typeface="Calibri"/>
              </a:defRPr>
            </a:pPr>
            <a:r>
              <a:t>Document agents score 8 out of 10 with zero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9966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Point Copilot at your SharePoint library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No custom code, no databases, no tool design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Model choice barely matters at this level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Good enough for policy lookup, report summarization, meeting notes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4206240"/>
            <a:ext cx="1828800" cy="73152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Copilot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0" y="4206240"/>
            <a:ext cx="1828800" cy="73152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SharePoint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4206240"/>
            <a:ext cx="1828800" cy="73152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Answer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4251960"/>
            <a:ext cx="640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57ABD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8040" y="4251960"/>
            <a:ext cx="640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57ABD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3035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55555"/>
                </a:solidFill>
                <a:latin typeface="Calibri"/>
              </a:defRPr>
            </a:pPr>
            <a:r>
              <a:t>This is where most agencies should start. It works today.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Level 3: Structured Data Starts Winning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2D2D"/>
                </a:solidFill>
                <a:latin typeface="Calibri"/>
              </a:defRPr>
            </a:pPr>
            <a:r>
              <a:t>Aggregate queries work across all agent types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9966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Document agents excel at single-case analysis (10/10) but can't count, sum, or filter across a full dataset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"How many active cases?" "What's the breakdown by county?" "Top 5 violators?" -- these require structured data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Agents with structured data access -- both Copilot Studio MCP and pro-code -- answer every aggregate query correctly when paired with a capable model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3840480"/>
            <a:ext cx="4389120" cy="164592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38862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53935"/>
                </a:solidFill>
                <a:latin typeface="Calibri"/>
              </a:defRPr>
            </a:pPr>
            <a:r>
              <a:t>Document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4297680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55555"/>
                </a:solidFill>
                <a:latin typeface="Calibri"/>
              </a:defRPr>
            </a:pPr>
            <a:r>
              <a:t>"I don't have that information."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3840480"/>
            <a:ext cx="4389120" cy="164592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38862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CAF50"/>
                </a:solidFill>
                <a:latin typeface="Calibri"/>
              </a:defRPr>
            </a:pPr>
            <a:r>
              <a:t>MCP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4297680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D2D2D"/>
                </a:solidFill>
                <a:latin typeface="Calibri"/>
              </a:defRPr>
            </a:pPr>
            <a:r>
              <a:t>CPS: 18 cases</a:t>
            </a:r>
            <a:br/>
            <a:r>
              <a:t>TPR: 12 cases</a:t>
            </a:r>
            <a:br/>
            <a:r>
              <a:t>Guardianship: 8 cases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55555"/>
                </a:solidFill>
                <a:latin typeface="Calibri"/>
              </a:defRPr>
            </a:pPr>
            <a:r>
              <a:t>This is where you start investing in data structure.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Level 4: The Inflection Point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This is where engineering decisions determine success or failure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D2D2D"/>
                </a:solidFill>
                <a:latin typeface="Calibri"/>
              </a:defRPr>
            </a:pPr>
            <a:r>
              <a:t>Three gaps emerged in testing: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2743200"/>
            <a:ext cx="3017520" cy="228600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283464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The Model Gap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347472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Calibri"/>
              </a:defRPr>
            </a:pPr>
            <a:r>
              <a:t>GPT-4.1 scores 9.5/10</a:t>
            </a:r>
            <a:br/>
            <a:r>
              <a:t>vs GPT-4o at 4/10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46320" y="2743200"/>
            <a:ext cx="3017520" cy="228600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0" y="283464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The Tool Gap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47472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Calibri"/>
              </a:defRPr>
            </a:pPr>
            <a:r>
              <a:t>One missing tool caused</a:t>
            </a:r>
            <a:br/>
            <a:r>
              <a:t>87% failure rate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21040" y="2743200"/>
            <a:ext cx="3017520" cy="228600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19" y="283464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The Data Gap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347472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Calibri"/>
              </a:defRPr>
            </a:pPr>
            <a:r>
              <a:t>Facts buried in narrative</a:t>
            </a:r>
            <a:br/>
            <a:r>
              <a:t>text were invisible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30352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55555"/>
                </a:solidFill>
                <a:latin typeface="Calibri"/>
              </a:defRPr>
            </a:pPr>
            <a:r>
              <a:t>Level 4 is where the investment pays off -- or doesn't.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Model Gap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GPT-4.1 vs GPT-4o: Same tools, same data, same backend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1031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0">
                <a:solidFill>
                  <a:srgbClr val="2D2D2D"/>
                </a:solidFill>
                <a:latin typeface="Calibri"/>
              </a:defRPr>
            </a:pPr>
            <a:r>
              <a:t>GPT-4.1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0" y="2148839"/>
            <a:ext cx="477774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38460" y="21031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CAF50"/>
                </a:solidFill>
                <a:latin typeface="Calibri"/>
              </a:defRPr>
            </a:pPr>
            <a:r>
              <a:t>9.5/10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2004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0">
                <a:solidFill>
                  <a:srgbClr val="2D2D2D"/>
                </a:solidFill>
                <a:latin typeface="Calibri"/>
              </a:defRPr>
            </a:pPr>
            <a:r>
              <a:t>GPT-4o (Government Cloud)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0" y="324612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0" y="32004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9800"/>
                </a:solidFill>
                <a:latin typeface="Calibri"/>
              </a:defRPr>
            </a:pPr>
            <a:r>
              <a:t>4.0/10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297679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0">
                <a:solidFill>
                  <a:srgbClr val="2D2D2D"/>
                </a:solidFill>
                <a:latin typeface="Calibri"/>
              </a:defRPr>
            </a:pPr>
            <a:r>
              <a:t>Platform-assigned (M365)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0" y="4343399"/>
            <a:ext cx="100584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0" y="4297679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53935"/>
                </a:solidFill>
                <a:latin typeface="Calibri"/>
              </a:defRPr>
            </a:pPr>
            <a:r>
              <a:t>2.0/10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75488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D2D2D"/>
                </a:solidFill>
                <a:latin typeface="Calibri"/>
              </a:rPr>
              <a:t>Government Cloud currently defaults to GPT-4o; expanded model availability on the roadmap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D2D2D"/>
                </a:solidFill>
                <a:latin typeface="Calibri"/>
              </a:rPr>
              <a:t>No amount of prompt engineering closed this gap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D2D2D"/>
                </a:solidFill>
                <a:latin typeface="Calibri"/>
              </a:rPr>
              <a:t>Pro-code agents can use GPT-4.1 in Government Cloud via Azure OpenAI directly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Tool Gap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2D2D"/>
                </a:solidFill>
                <a:latin typeface="Calibri"/>
              </a:defRPr>
            </a:pPr>
            <a:r>
              <a:t>87% failure rate from one missing tool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9966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Agents could not convert "4763 Griscom St" to a database parcel ID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15 address lookups across 5 agents, only 2 succeeded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One fuzzy-match tool added: zero failures in retesting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Investigative Agent: 1 out of 10 to a perfect 10 out of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0" y="4206240"/>
            <a:ext cx="3840480" cy="146304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2519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53935"/>
                </a:solidFill>
                <a:latin typeface="Calibri"/>
              </a:defRPr>
            </a:pPr>
            <a:r>
              <a:t>BEFORE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6634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E53935"/>
                </a:solidFill>
                <a:latin typeface="Calibri"/>
              </a:defRPr>
            </a:pPr>
            <a:r>
              <a:t>13 of 15 lookups failed</a:t>
            </a:r>
            <a:br/>
            <a:r>
              <a:t>1/10 accuracy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4480560"/>
            <a:ext cx="822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357ABD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4206240"/>
            <a:ext cx="3840480" cy="146304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42519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CAF50"/>
                </a:solidFill>
                <a:latin typeface="Calibri"/>
              </a:defRPr>
            </a:pPr>
            <a:r>
              <a:t>AFTER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46634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4CAF50"/>
                </a:solidFill>
                <a:latin typeface="Calibri"/>
              </a:defRPr>
            </a:pPr>
            <a:r>
              <a:t>0 failures</a:t>
            </a:r>
            <a:br/>
            <a:r>
              <a:t>10/10 accuracy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76072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57ABD"/>
                </a:solidFill>
                <a:latin typeface="Calibri"/>
              </a:defRPr>
            </a:pPr>
            <a:r>
              <a:t>The change: one search_properties fuzzy-match tool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Level 5: Trust But Verify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Even our best agent reproduced a dangerous error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103120"/>
            <a:ext cx="4754880" cy="182880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14884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53935"/>
                </a:solidFill>
                <a:latin typeface="Calibri"/>
              </a:defRPr>
            </a:pPr>
            <a:r>
              <a:t>Sheriff's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560320"/>
            <a:ext cx="4389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2D2D2D"/>
                </a:solidFill>
                <a:latin typeface="Calibri"/>
              </a:defRPr>
            </a:pPr>
            <a:r>
              <a:t>"no fractures detected</a:t>
            </a:r>
            <a:br/>
            <a:r>
              <a:t>on skeletal survey"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103120"/>
            <a:ext cx="4754880" cy="18288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14884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CAF50"/>
                </a:solidFill>
                <a:latin typeface="Calibri"/>
              </a:defRPr>
            </a:pPr>
            <a:r>
              <a:t>Medical Records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560320"/>
            <a:ext cx="4389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2D2D2D"/>
                </a:solidFill>
                <a:latin typeface="Calibri"/>
              </a:defRPr>
            </a:pPr>
            <a:r>
              <a:t>Bilateral long bone</a:t>
            </a:r>
            <a:br/>
            <a:r>
              <a:t>fractures documented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0690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C62828"/>
                </a:solidFill>
                <a:latin typeface="Calibri"/>
              </a:defRPr>
            </a:pPr>
            <a:r>
              <a:t>7 of 8 document agents quoted the sheriff's report without cross-checking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5720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The fix: document structure improvements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93776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Added cross-reference headers to each document (zero content changes)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Commercial agent: 8/10 to 10/10 -- pulled Medical Records as primary source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GCC agent: 3/10 to 9/10 across all 10 prompts with document hygiene alone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Zero code, zero engineering -- document hygiene any paralegal can implement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Danger Taxonomy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Five categories of AI failure, ranked by severity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2057400"/>
            <a:ext cx="1371600" cy="45720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CRITICAL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201168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1. False Negative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0574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55555"/>
                </a:solidFill>
                <a:latin typeface="Calibri"/>
              </a:defRPr>
            </a:pPr>
            <a:r>
              <a:t>Data retrieved, answer not recognized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2880360"/>
            <a:ext cx="1371600" cy="45720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CRITICAL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28346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2. Faithfully Reproduced Misinformation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28803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55555"/>
                </a:solidFill>
                <a:latin typeface="Calibri"/>
              </a:defRPr>
            </a:pPr>
            <a:r>
              <a:t>Source document had an error, agent quoted it accurately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3703320"/>
            <a:ext cx="1371600" cy="457200"/>
          </a:xfrm>
          <a:prstGeom prst="round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36576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3. Misattribution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37033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55555"/>
                </a:solidFill>
                <a:latin typeface="Calibri"/>
              </a:defRPr>
            </a:pPr>
            <a:r>
              <a:t>Real fact, wrong person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4526280"/>
            <a:ext cx="1371600" cy="457200"/>
          </a:xfrm>
          <a:prstGeom prst="round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44805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4. Hallucinated Fact with Confidence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45262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55555"/>
                </a:solidFill>
                <a:latin typeface="Calibri"/>
              </a:defRPr>
            </a:pPr>
            <a:r>
              <a:t>Invented detail with no source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71600" y="5349240"/>
            <a:ext cx="1371600" cy="457200"/>
          </a:xfrm>
          <a:prstGeom prst="round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MEDIUM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53035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5. Silent Failure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53492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55555"/>
                </a:solidFill>
                <a:latin typeface="Calibri"/>
              </a:defRPr>
            </a:pPr>
            <a:r>
              <a:t>No results, no indication anything went wrong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54864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57ABD"/>
                </a:solidFill>
                <a:latin typeface="Calibri"/>
              </a:defRPr>
            </a:pPr>
            <a:r>
              <a:t>These are not hypothetical. We documented each one across 462 test runs.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Iterative Process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Deploying an agent is not a one-time event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286000"/>
            <a:ext cx="2468880" cy="2743200"/>
          </a:xfrm>
          <a:prstGeom prst="roundRect">
            <a:avLst/>
          </a:prstGeom>
          <a:solidFill>
            <a:srgbClr val="7890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3317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Round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8346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Baseline Testing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3832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DEEFF"/>
                </a:solidFill>
                <a:latin typeface="Calibri"/>
              </a:defRPr>
            </a:pPr>
            <a:r>
              <a:t>Measure failures</a:t>
            </a:r>
            <a:br/>
            <a:r>
              <a:t>against ground truth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31920" y="2286000"/>
            <a:ext cx="2468880" cy="274320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23359" y="23317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Round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28346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Fix the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59" y="33832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DEEFF"/>
                </a:solidFill>
                <a:latin typeface="Calibri"/>
              </a:defRPr>
            </a:pPr>
            <a:r>
              <a:t>Make facts discrete</a:t>
            </a:r>
            <a:br/>
            <a:r>
              <a:t>and queryable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66560" y="2286000"/>
            <a:ext cx="2468880" cy="274320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0" y="23317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Round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28346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Fix the Tools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33832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DEEFF"/>
                </a:solidFill>
                <a:latin typeface="Calibri"/>
              </a:defRPr>
            </a:pPr>
            <a:r>
              <a:t>Help the model</a:t>
            </a:r>
            <a:br/>
            <a:r>
              <a:t>reach the data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01200" y="2286000"/>
            <a:ext cx="2468880" cy="2743200"/>
          </a:xfrm>
          <a:prstGeom prst="roundRect">
            <a:avLst/>
          </a:prstGeom>
          <a:solidFill>
            <a:srgbClr val="4295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0" y="23317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Round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28346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Validate Models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0" y="33832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DEEFF"/>
                </a:solidFill>
                <a:latin typeface="Calibri"/>
              </a:defRPr>
            </a:pPr>
            <a:r>
              <a:t>Confirm what works</a:t>
            </a:r>
            <a:br/>
            <a:r>
              <a:t>where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01752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57ABD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01752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57ABD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301752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57ABD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30352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55555"/>
                </a:solidFill>
                <a:latin typeface="Calibri"/>
              </a:defRPr>
            </a:pPr>
            <a:r>
              <a:t>Every organization will go through these rounds, in this order.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Results After Iteration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Six agents reached 9-10 out of 10 after iterative improvement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371600" y="2103120"/>
          <a:ext cx="941832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1371600"/>
                <a:gridCol w="1371600"/>
                <a:gridCol w="283464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Agent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Round 0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Final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Fix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SP/PDF/GCC (Copilot Studio)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3/10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Cross-referenced docs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KB/DOCX/Com (Copilot Studio)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6/10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Cross-referenced docs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Commercial MCP (Copilot Studio)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8/10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Descriptions + data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Investigative Agent (OpenAI SDK)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Fuzzy-match tool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Foundry Agent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4/10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Descriptions + data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Triage Agent (Semantic Kernel)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5 rounds: tools+data+model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97280" y="50292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55555"/>
                </a:solidFill>
                <a:latin typeface="Calibri"/>
              </a:defRPr>
            </a:pPr>
            <a:r>
              <a:t>The first two rows required zero engineering -- just document hygiene.</a:t>
            </a:r>
            <a:br/>
            <a:r>
              <a:t>The rest required iterative tool and data work.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Code Spectrum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Zero code to full code -- same fidelity when you control the model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371600" y="2103120"/>
          <a:ext cx="91440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200400"/>
                <a:gridCol w="274320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Approach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Code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Best For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M365 Copilot (Com)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Zero (3 JSON manifests)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Levels 1-2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Copilot Studio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Zero to low code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Levels 1-3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Foundry Agent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Minimal code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Levels 3-4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Custom SDK (OpenAI, SK)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Full code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Levels 4-5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97280" y="45720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57ABD"/>
                </a:solidFill>
                <a:latin typeface="Calibri"/>
              </a:defRPr>
            </a:pPr>
            <a:r>
              <a:t>The investment buys governance and customization, not fidelity.</a:t>
            </a:r>
            <a:br/>
            <a:r>
              <a:t>Fidelity comes from the model and the data.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Why Copilot Studio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One platform, declarative to pro-code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Same environment hosts zero-code SharePoint agents AND MCP-connected structured data agents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Model flexibility: swap GPT-4o for GPT-4.1, accuracy goes from 4/10 to 10/10 -- no config changes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Enterprise governance built in: DLP, audit logging, admin pre-approval for tool calls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M365 distribution: agents show up in Teams and Copilot chat -- no separate app to deploy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Our test data proves the platform works -- the model is the variable, not the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0292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57ABD"/>
                </a:solidFill>
                <a:latin typeface="Calibri"/>
              </a:defRPr>
            </a:pPr>
            <a:r>
              <a:t>Commercial Copilot Studio MCP scored a perfect 10 out of 10.</a:t>
            </a:r>
            <a:br/>
            <a:r>
              <a:t>The architecture is sound. The limiting factor is model availability in GCC.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What to Do at Each Level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97280" y="1463040"/>
          <a:ext cx="96012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822960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Level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Action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1-2</a:t>
                      </a:r>
                    </a:p>
                  </a:txBody>
                  <a:tcPr anchor="ctr">
                    <a:solidFill>
                      <a:srgbClr val="4CAF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Deploy Copilot with SharePoint. Clean up document metadata. Done.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F98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Connect to structured data via MCP. Clear tool descriptions. Summary modes.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451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Purpose-built tools. Models with strong multi-step reasoning (GPT-4.1 in our testing). Ground truth test suite. Budget 3+ rounds.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E539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Level 4 + human review workflows + audit logging + citation linking.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97280" y="47548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357ABD"/>
                </a:solidFill>
                <a:latin typeface="Calibri"/>
              </a:defRPr>
            </a:pPr>
            <a:r>
              <a:t>Match your investment to your accuracy requirement.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Government Cloud Customers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The GCC reality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01168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Copilot Studio defaults to GPT-4o (adequate for Levels 1-3)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Pro-code agents can use GPT-4.1 via Azure OpenAI (Levels 4-5)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Monitor model updates -- GCC parity will improve over time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3657600"/>
            <a:ext cx="3200400" cy="9144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39" y="36576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D2D2D"/>
                </a:solidFill>
                <a:latin typeface="Calibri"/>
              </a:defRPr>
            </a:pPr>
            <a:r>
              <a:t>Is your use case Level 1-3?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4754880"/>
            <a:ext cx="3200400" cy="91440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39" y="475488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Use Copilot Studio today.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3657600"/>
            <a:ext cx="3200400" cy="9144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0" y="36576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D2D2D"/>
                </a:solidFill>
                <a:latin typeface="Calibri"/>
              </a:defRPr>
            </a:pPr>
            <a:r>
              <a:t>Is your use case Level 4-5?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4754880"/>
            <a:ext cx="3200400" cy="91440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475488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Deploy a pro-code agent</a:t>
            </a:r>
            <a:br/>
            <a:r>
              <a:t>with GPT-4.1.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3657600"/>
            <a:ext cx="3200400" cy="9144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60" y="36576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D2D2D"/>
                </a:solidFill>
                <a:latin typeface="Calibri"/>
              </a:defRPr>
            </a:pPr>
            <a:r>
              <a:t>Planning for Level 4-5</a:t>
            </a:r>
            <a:br/>
            <a:r>
              <a:t>in the future?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4754880"/>
            <a:ext cx="3200400" cy="91440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475488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Start building ground truth</a:t>
            </a:r>
            <a:br/>
            <a:r>
              <a:t>test suites now.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How We Score: Ground Truth Grading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23444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Every grade is verifiable -- we wrote the data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097280" y="2011680"/>
          <a:ext cx="530352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2286000"/>
                <a:gridCol w="237744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Score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Meaning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Example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Fully correct, complete, sourced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All facts match, sources cited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8-9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Correct, one minor detail missing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All statements found, missed one page ref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Partially correct or incomplete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Found one of two sources, or wrong time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1-4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Significant gaps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Right case, missed key facts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Wrong or dangerously confident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Real citation, wrong conclusion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0" y="20116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The Process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2377440"/>
            <a:ext cx="4114800" cy="36576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2560320"/>
            <a:ext cx="45720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Each prompt scored 0-10 against ground truth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One run per agent, per-prompt scores averaged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Same prompt to every agent -- side by side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Graded by Claude against ground truth (live)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462 test runs, 21 agents, 6 models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4937760"/>
            <a:ext cx="9966960" cy="914400"/>
          </a:xfrm>
          <a:prstGeom prst="round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97280" y="4937760"/>
            <a:ext cx="137160" cy="914400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3040" y="5029200"/>
            <a:ext cx="9326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55555"/>
                </a:solidFill>
                <a:latin typeface="Calibri"/>
              </a:defRPr>
            </a:pPr>
            <a:r>
              <a:t>"We grade against data we wrote. Every correct answer is verifiable. Every wrong answer is provably wrong -- not a matter of interpretation."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54864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46304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A0C4E8"/>
                </a:solidFill>
                <a:latin typeface="Calibri"/>
              </a:defRPr>
            </a:pPr>
            <a:r>
              <a:t>"Same agent. Change one variable. Watch the result change."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Part 1: Document Quality  (~10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743200"/>
            <a:ext cx="5029200" cy="36576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9260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3 agents, same model, 3 SharePoint libraries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34290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Raw  -&gt;  Cross-Referenced  -&gt;  Enriched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9319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Skeletal survey: FAIL -&gt; PASS -&gt; PASS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44348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Marcus Webb: FAIL -&gt; PARTIAL -&gt; 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49377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Score arc: 3/10 -&gt; 7/10 -&gt; 8/10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54406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Cost: $0, 45 minutes of document hygiene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2860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Part 2: Model Selection  (~8 min)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2743200"/>
            <a:ext cx="5029200" cy="36576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29260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1 Dataverse MCP agent, swap model live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4290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GPT-4o  -&gt;  Sonnet 4.6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39319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TPR case filter: 0 -&gt; 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4348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Cross-doc reasoning: 0 -&gt; 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49377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Time gap calculation: 0 -&gt; 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54406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Full battery: 3.2/11 -&gt; 6/11 -&gt; 11/11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594360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88AACC"/>
                </a:solidFill>
                <a:latin typeface="Calibri"/>
              </a:defRPr>
            </a:pPr>
            <a:r>
              <a:t>All demos run in Copilot Studio -- no custom code UI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One Prompt, Three Interventions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97280" y="1234440"/>
            <a:ext cx="9966960" cy="64008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28016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555555"/>
                </a:solidFill>
                <a:latin typeface="Calibri"/>
              </a:defRPr>
            </a:pPr>
            <a:r>
              <a:t>"What did Marcus Webb tell hospital staff about when he put Jaylen to bed, and did he give the same answer to law enforcement?"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57400"/>
            <a:ext cx="3383280" cy="338328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057400"/>
            <a:ext cx="3383280" cy="109728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240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D2D2D"/>
                </a:solidFill>
                <a:latin typeface="Calibri"/>
              </a:defRPr>
            </a:pPr>
            <a:r>
              <a:t>Raw Documents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74519" y="2606040"/>
            <a:ext cx="1280160" cy="36576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FAIL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1089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Found: Sheriff Report interview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52044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62828"/>
                </a:solidFill>
                <a:latin typeface="Calibri"/>
              </a:defRPr>
            </a:pPr>
            <a:r>
              <a:t>Missed: Nursing notes in Medical Records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02336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55555"/>
                </a:solidFill>
                <a:latin typeface="Calibri"/>
              </a:defRPr>
            </a:pPr>
            <a:r>
              <a:t>The agent has no reason to look</a:t>
            </a:r>
            <a:br/>
            <a:r>
              <a:t>in a medical record for</a:t>
            </a:r>
            <a:br/>
            <a:r>
              <a:t>parent statements.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0" y="2057400"/>
            <a:ext cx="3383280" cy="3383280"/>
          </a:xfrm>
          <a:prstGeom prst="round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2057400"/>
            <a:ext cx="3383280" cy="109728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2240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D2D2D"/>
                </a:solidFill>
                <a:latin typeface="Calibri"/>
              </a:defRPr>
            </a:pPr>
            <a:r>
              <a:t>Cross-Referenced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23560" y="2606040"/>
            <a:ext cx="1280160" cy="365760"/>
          </a:xfrm>
          <a:prstGeom prst="round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PARTIAL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31089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Found: Both sources identified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352044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9A825"/>
                </a:solidFill>
                <a:latin typeface="Calibri"/>
              </a:defRPr>
            </a:pPr>
            <a:r>
              <a:t>Missed: Specific nursing note detail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402336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55555"/>
                </a:solidFill>
                <a:latin typeface="Calibri"/>
              </a:defRPr>
            </a:pPr>
            <a:r>
              <a:t>Cross-reference header points to</a:t>
            </a:r>
            <a:br/>
            <a:r>
              <a:t>Medical Records, but the agent</a:t>
            </a:r>
            <a:br/>
            <a:r>
              <a:t>still can't find nursing notes.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21040" y="2057400"/>
            <a:ext cx="3383280" cy="338328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321040" y="2057400"/>
            <a:ext cx="3383280" cy="109728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58200" y="2240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D2D2D"/>
                </a:solidFill>
                <a:latin typeface="Calibri"/>
              </a:defRPr>
            </a:pPr>
            <a:r>
              <a:t>Enriched + Metadata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72600" y="2606040"/>
            <a:ext cx="1280160" cy="36576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PASS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19" y="31089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Found: Both statements, correct times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19" y="352044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CAF50"/>
                </a:solidFill>
                <a:latin typeface="Calibri"/>
              </a:defRPr>
            </a:pPr>
            <a:r>
              <a:t>Missed: Nothing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02336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55555"/>
                </a:solidFill>
                <a:latin typeface="Calibri"/>
              </a:defRPr>
            </a:pPr>
            <a:r>
              <a:t>SP metadata: "nursing interview,</a:t>
            </a:r>
            <a:br/>
            <a:r>
              <a:t>parent statements" on Medical</a:t>
            </a:r>
            <a:br/>
            <a:r>
              <a:t>Records enables retrieval.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4160520" y="3383280"/>
            <a:ext cx="457200" cy="320040"/>
          </a:xfrm>
          <a:prstGeom prst="rightArrow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ight Arrow 27"/>
          <p:cNvSpPr/>
          <p:nvPr/>
        </p:nvSpPr>
        <p:spPr>
          <a:xfrm>
            <a:off x="7909559" y="3383280"/>
            <a:ext cx="457200" cy="320040"/>
          </a:xfrm>
          <a:prstGeom prst="rightArrow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371600" y="5623560"/>
            <a:ext cx="9418320" cy="50292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371600" y="5623560"/>
            <a:ext cx="109728" cy="502920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645920" y="5669280"/>
            <a:ext cx="8961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B2A4A"/>
                </a:solidFill>
                <a:latin typeface="Calibri"/>
              </a:defRPr>
            </a:pPr>
            <a:r>
              <a:t>Cross-references fix reasoning errors. Metadata fixes retrieval errors. You need both.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2A4A"/>
                </a:solidFill>
                <a:latin typeface="Calibri"/>
              </a:defRPr>
            </a:pPr>
            <a:r>
              <a:t>Surprising Finding: Agent Challenged Its Own Premise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A pro-code agent questioned the question -- and was right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Asked about a $146,000 purchase vs a $357,100 assessment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Agent checked the source data: actual assessment was $53,155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Recalculated using verified numbers instead of the prompt's numbers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No other agent questioned the input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0" y="4206240"/>
            <a:ext cx="8503920" cy="109728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251960"/>
            <a:ext cx="8138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2C5F8A"/>
                </a:solidFill>
                <a:latin typeface="Calibri"/>
              </a:defRPr>
            </a:pPr>
            <a:r>
              <a:t>"The assessment value in our records is $53,155, not $357,100 as stated in the question. Using the verified assessment value..."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55555"/>
                </a:solidFill>
                <a:latin typeface="Calibri"/>
              </a:defRPr>
            </a:pPr>
            <a:r>
              <a:t>This is what custom orchestration enables -- but only with iterative testing.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2A4A"/>
                </a:solidFill>
                <a:latin typeface="Calibri"/>
              </a:defRPr>
            </a:pPr>
            <a:r>
              <a:t>Surprising Finding: False Negative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The model retrieved the answer and didn't recognize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Agent called the right tools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Received data containing "two positive drug screens (fentanyl)"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Concluded: "no drug test results exist in the available data"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Invisible to users: tool calls look correct, answer sounds confident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4114800"/>
            <a:ext cx="4572000" cy="13716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416052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4CAF50"/>
                </a:solidFill>
                <a:latin typeface="Calibri"/>
              </a:defRPr>
            </a:pPr>
            <a:r>
              <a:t>Tool Output (correct)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4572000"/>
            <a:ext cx="4206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D2D2D"/>
                </a:solidFill>
                <a:latin typeface="Calibri"/>
              </a:defRPr>
            </a:pPr>
            <a:r>
              <a:t>"two positive drug screens</a:t>
            </a:r>
            <a:br/>
            <a:r>
              <a:t>(fentanyl)"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114800"/>
            <a:ext cx="4572000" cy="137160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416052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E53935"/>
                </a:solidFill>
                <a:latin typeface="Calibri"/>
              </a:defRPr>
            </a:pPr>
            <a:r>
              <a:t>Agent Conclusion (wrong)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4572000"/>
            <a:ext cx="4206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D2D2D"/>
                </a:solidFill>
                <a:latin typeface="Calibri"/>
              </a:defRPr>
            </a:pPr>
            <a:r>
              <a:t>"no drug test results exist</a:t>
            </a:r>
            <a:br/>
            <a:r>
              <a:t>in the available data"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C62828"/>
                </a:solidFill>
                <a:latin typeface="Calibri"/>
              </a:defRPr>
            </a:pPr>
            <a:r>
              <a:t>This is why you need ground truth testing. You cannot catch this in production.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Bottom 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Three numbers to remember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103120"/>
            <a:ext cx="3200400" cy="320040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28600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8/10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347472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Calibri"/>
              </a:defRPr>
            </a:pPr>
            <a:r>
              <a:t>What you get with</a:t>
            </a:r>
            <a:br/>
            <a:r>
              <a:t>zero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45720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DDEEFF"/>
                </a:solidFill>
                <a:latin typeface="Calibri"/>
              </a:defRPr>
            </a:pPr>
            <a:r>
              <a:t>Levels 1-2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2103120"/>
            <a:ext cx="3200400" cy="320040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79" y="228600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9.5/10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79" y="347472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Calibri"/>
              </a:defRPr>
            </a:pPr>
            <a:r>
              <a:t>What you get with</a:t>
            </a:r>
            <a:br/>
            <a:r>
              <a:t>purpose-built tools + GPT-4.1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79" y="45720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DDEEFF"/>
                </a:solidFill>
                <a:latin typeface="Calibri"/>
              </a:defRPr>
            </a:pPr>
            <a:r>
              <a:t>Levels 3-4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2103120"/>
            <a:ext cx="3200400" cy="320040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28600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Trust</a:t>
            </a:r>
            <a:br/>
            <a:r>
              <a:t>But Verify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47472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Calibri"/>
              </a:defRPr>
            </a:pPr>
            <a:r>
              <a:t>No score is high enough</a:t>
            </a:r>
            <a:br/>
            <a:r>
              <a:t>to skip human review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45720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DDEEFF"/>
                </a:solidFill>
                <a:latin typeface="Calibri"/>
              </a:defRPr>
            </a:pPr>
            <a:r>
              <a:t>Level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4864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555555"/>
                </a:solidFill>
                <a:latin typeface="Calibri"/>
              </a:defRPr>
            </a:pPr>
            <a:r>
              <a:t>"The question is not 'should we deploy AI?' The question is 'which level are we operating at, and have we invested accordingly?'"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Full Scorecard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462 test runs, 21 agent configurations, 6 models, 2 use cases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7373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B2A4A"/>
                </a:solidFill>
                <a:latin typeface="Calibri"/>
              </a:defRPr>
            </a:pPr>
            <a:r>
              <a:t>Use Case 1: Legal Case Analysis (16 agents)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2057400"/>
          <a:ext cx="4297680" cy="6995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188720"/>
                <a:gridCol w="73152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Agent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Score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Case Analyst (pro-code)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MCP/Com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SP/PDF/Com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KB/DOCX/Com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DV/Com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Sonnet 4.6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DV/Com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GPT-5 Reasoning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SP/DOCX/Com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MCP/GCC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SP/PDF/GCC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KB/PDF/GCC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KB/PDF/Com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8/10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KB/DOCX/GCC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8/10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SP/DOCX/GCC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7/10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DV/Com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6/10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DV/Com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GPT-5 Auto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4/10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DV/GCC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3.2/10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0" y="17373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B2A4A"/>
                </a:solidFill>
                <a:latin typeface="Calibri"/>
              </a:defRPr>
            </a:pPr>
            <a:r>
              <a:t>Use Case 2: Investigative Analytics (8 agents)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35040" y="2057400"/>
          <a:ext cx="429768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188720"/>
                <a:gridCol w="73152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Agent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Score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MCP/Com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Investigative (OpenAI SDK)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Triage (Semantic Kernel)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Foundry Agent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SP/PDF/GCC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SP/PDF/Com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8/10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MCP/GCC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4/10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M365 Copilot MCP/Com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Platform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2/10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097280" y="603504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555555"/>
                </a:solidFill>
                <a:latin typeface="Calibri"/>
              </a:defRPr>
            </a:pPr>
            <a:r>
              <a:t>Dataverse MCP (5 models): Sonnet 4.6 (10/10), GPT-5 Reasoning (10/10), GPT-4.1 (6/10), GPT-5 Auto (4/10), GPT-4o (3.2/10). Reasoning models close the gap.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A0C4E8"/>
                </a:solidFill>
                <a:latin typeface="Calibri"/>
              </a:defRPr>
            </a:pPr>
            <a:r>
              <a:t>Start the conversation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926080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Where do your use cases fall on the spectrum?</a:t>
            </a:r>
          </a:p>
        </p:txBody>
      </p:sp>
      <p:sp>
        <p:nvSpPr>
          <p:cNvPr id="5" name="Oval 4"/>
          <p:cNvSpPr/>
          <p:nvPr/>
        </p:nvSpPr>
        <p:spPr>
          <a:xfrm>
            <a:off x="2286000" y="3063240"/>
            <a:ext cx="182880" cy="182880"/>
          </a:xfrm>
          <a:prstGeom prst="ellipse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0" y="3657600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What data do you already have in structured form?</a:t>
            </a:r>
          </a:p>
        </p:txBody>
      </p:sp>
      <p:sp>
        <p:nvSpPr>
          <p:cNvPr id="7" name="Oval 6"/>
          <p:cNvSpPr/>
          <p:nvPr/>
        </p:nvSpPr>
        <p:spPr>
          <a:xfrm>
            <a:off x="2286000" y="3794760"/>
            <a:ext cx="182880" cy="182880"/>
          </a:xfrm>
          <a:prstGeom prst="ellipse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0" y="4389120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What's your risk tolerance for AI-generated output?</a:t>
            </a:r>
          </a:p>
        </p:txBody>
      </p:sp>
      <p:sp>
        <p:nvSpPr>
          <p:cNvPr id="9" name="Oval 8"/>
          <p:cNvSpPr/>
          <p:nvPr/>
        </p:nvSpPr>
        <p:spPr>
          <a:xfrm>
            <a:off x="2286000" y="4526280"/>
            <a:ext cx="182880" cy="182880"/>
          </a:xfrm>
          <a:prstGeom prst="ellipse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0" y="5120640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Ready for a deeper dive? We have the architecture, the test data, and the framework.</a:t>
            </a:r>
          </a:p>
        </p:txBody>
      </p:sp>
      <p:sp>
        <p:nvSpPr>
          <p:cNvPr id="11" name="Oval 10"/>
          <p:cNvSpPr/>
          <p:nvPr/>
        </p:nvSpPr>
        <p:spPr>
          <a:xfrm>
            <a:off x="2286000" y="5257800"/>
            <a:ext cx="182880" cy="182880"/>
          </a:xfrm>
          <a:prstGeom prst="ellipse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566928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A0C4E8"/>
                </a:solidFill>
                <a:latin typeface="Calibri"/>
              </a:defRPr>
            </a:pPr>
            <a:r>
              <a:t>I'm not here to sell you a product. I'm here to help you make the right investment for your mission.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