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of you may remember me from such demos as the delegation demo, or one of my many ALM demos. Those demos and this one have something in common: I like to build test harnesses for real-world use cases my customers care about. And they all deal with the same fundamental topic: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story on one slide. Everything that follows is how we got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You'll see these names on every chart going forward. The important thing is the spectrum: on the left, you're up and running in an afternoon. On the right, you have full control. The question is which level of fidelity you need -- and that's what the rest of this talk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policy lookup chatbot that hallucinates a deadline is annoying. A legal case prep tool that misses a discrepancy can change an outcome. The framework we're about to walk through helps you match your engineering investment to the stakes of the use case -- so you know when 'good enough' really is good enough, and when it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the single biggest variable at Level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design is as important as model selection. Maybe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daily experience: Copilot helps you draft an email -- you review it. Copilot helps you write code -- you review it. Why would we skip human review at any of these five levels, especially Level 5 where the stakes are a family's future?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critical for the tech series. MUST articulate the platform value, not just the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what works today. Plan for what's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do we do? Do we just give up on agents? No -- you continue to test them and make them better, and you always adhere to trust but verify. I have agents building apps for me right now. If I were building production enterprise apps, I'd have a team of human developers checking the work, helping test, reviewing agentic results. The AI accelerates the team. The team validates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462 data points. The pattern is clear: the model and the data matter more than the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Agent Fidelity</a:t>
            </a:r>
            <a:br/>
            <a:r>
              <a:t>for Government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377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C4E8"/>
                </a:solidFill>
                <a:latin typeface="Calibri"/>
              </a:defRPr>
            </a:pPr>
            <a:r>
              <a:t>A Five-Level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Findings from 462 Test Runs Across 21 Agent Configurations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3891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26 Slides  |  March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51206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51206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1206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51206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51206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462 test runs  |  21 agents  |  26 slides  |  2 use cases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462 test runs across 21 agent configurations, 2 government use cases, and 7 testing rounds. Three gaps emerged at the higher levels: tools, data, and model. Every gap was fixable, and none required AI expertise.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3474720" cy="1280160"/>
          </a:xfrm>
          <a:prstGeom prst="round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137160" cy="1280160"/>
          </a:xfrm>
          <a:prstGeom prst="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C34A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Just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8/10 with zero customization.</a:t>
            </a:r>
            <a:br/>
            <a:r>
              <a:t>Model choice irrelevant.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2194560"/>
            <a:ext cx="3474720" cy="128016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2194560"/>
            <a:ext cx="1371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5146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Data Over 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MCP outperformed document search</a:t>
            </a:r>
            <a:br/>
            <a:r>
              <a:t>on every aggregate query.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703320"/>
            <a:ext cx="3474720" cy="1280160"/>
          </a:xfrm>
          <a:prstGeom prst="round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3703320"/>
            <a:ext cx="137160" cy="1280160"/>
          </a:xfrm>
          <a:prstGeom prst="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4511E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The Inflection 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Three gaps emerged: tools, data,</a:t>
            </a:r>
            <a:br/>
            <a:r>
              <a:t>and model. All fixable.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3703320"/>
            <a:ext cx="3474720" cy="128016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3703320"/>
            <a:ext cx="137160" cy="12801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53935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023359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Human in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55555"/>
                </a:solidFill>
                <a:latin typeface="Calibri"/>
              </a:defRPr>
            </a:pPr>
            <a:r>
              <a:t>High fidelity at L4 means humans</a:t>
            </a:r>
            <a:br/>
            <a:r>
              <a:t>review conclusions, not raw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78240" y="2194560"/>
            <a:ext cx="2560320" cy="30175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78240" y="2194560"/>
            <a:ext cx="91440" cy="30175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23317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743200"/>
            <a:ext cx="32004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27432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Discovery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200400"/>
            <a:ext cx="320040" cy="32004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3200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Summarization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657600"/>
            <a:ext cx="320040" cy="32004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19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Operational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4114800"/>
            <a:ext cx="320040" cy="32004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Investigative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572000"/>
            <a:ext cx="320040" cy="3200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19" y="4572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Adjudicative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50 cases, 277 people, 333 events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15 agent configurations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5349240"/>
            <a:ext cx="4754880" cy="86868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5349240"/>
            <a:ext cx="137160" cy="86868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5394959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57ABD"/>
                </a:solidFill>
                <a:latin typeface="Calibri"/>
              </a:defRPr>
            </a:pPr>
            <a:r>
              <a:t>Use Case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5961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5852159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34M rows, 584K properties, 1.6M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6007607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alibri"/>
              </a:defRPr>
            </a:pPr>
            <a:r>
              <a:t>8 agent configurations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Two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Two real government scenarios, twenty-one agent configurations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Legal Case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50 synthetic legal cases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277 people, 333 timeline events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338 statements, 151 discrepancies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prepare a case for an attorney as well as a paralegal?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4937760" cy="3200400"/>
          </a:xfrm>
          <a:prstGeom prst="round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137160" cy="3200400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Investigative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432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34 million rows of property data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584K properties, 1.6M violations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Can an AI agent surface patterns an investigator would otherwise miss?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Both use cases came from real customer conversations. The data is synthetic but the structure mirrors production systems.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How This Was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solution engineer. One AI coding assistant. Four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Human-Directed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Architecture decisions, Azure</a:t>
            </a:r>
            <a:br/>
            <a:r>
              <a:t>service selection, schema design,</a:t>
            </a:r>
            <a:br/>
            <a:r>
              <a:t>security posture, and the five-level</a:t>
            </a:r>
            <a:br/>
            <a:r>
              <a:t>fidelity framework came from</a:t>
            </a:r>
            <a:br/>
            <a:r>
              <a:t>domain expertise and customer</a:t>
            </a:r>
            <a:br/>
            <a:r>
              <a:t>conversations.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AI-Accelerated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TypeScript Functions, MCP server,</a:t>
            </a:r>
            <a:br/>
            <a:r>
              <a:t>SQL schema, 50 synthetic cases,</a:t>
            </a:r>
            <a:br/>
            <a:r>
              <a:t>web UI, six PDF generators, and</a:t>
            </a:r>
            <a:br/>
            <a:r>
              <a:t>this deck were generated by AI</a:t>
            </a:r>
            <a:br/>
            <a:r>
              <a:t>and reviewed by a human.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Human-Verified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462 test runs across 21 agent</a:t>
            </a:r>
            <a:br/>
            <a:r>
              <a:t>configurations, scored by hand.</a:t>
            </a:r>
            <a:br/>
            <a:r>
              <a:t>Every dangerous response was</a:t>
            </a:r>
            <a:br/>
            <a:r>
              <a:t>caught through manual review.</a:t>
            </a:r>
            <a:br/>
            <a:r>
              <a:t>That is exactly the point</a:t>
            </a:r>
            <a:br/>
            <a:r>
              <a:t>of Level 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We practiced what we preach. This entire project is Level 5: AI-accelerated, human-verified.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Meet the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21 configurations, 3 approaches, 1 set of test prompts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3291840" cy="3474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Zero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M365 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Three JSON manifest files</a:t>
            </a:r>
            <a:br/>
            <a:r>
              <a:t>pointing at the MCP server.</a:t>
            </a:r>
            <a:br/>
            <a:r>
              <a:t>Platform picks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1 configuration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920240"/>
            <a:ext cx="3291840" cy="347472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Configure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Copilot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SharePoint docs, knowledge base,</a:t>
            </a:r>
            <a:br/>
            <a:r>
              <a:t>MCP server, or Dataverse --</a:t>
            </a:r>
            <a:br/>
            <a:r>
              <a:t>same platform, different</a:t>
            </a:r>
            <a:br/>
            <a:r>
              <a:t>data 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9800"/>
                </a:solidFill>
                <a:latin typeface="Calibri"/>
              </a:defRPr>
            </a:pPr>
            <a:r>
              <a:t>12 configurations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920240"/>
            <a:ext cx="3291840" cy="34747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011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Build It Yourself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14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EEFF"/>
                </a:solidFill>
                <a:latin typeface="Calibri"/>
              </a:defRPr>
            </a:pPr>
            <a:r>
              <a:t>Pro-Code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9718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Case Analyst (TypeScript)</a:t>
            </a:r>
            <a:br/>
            <a:r>
              <a:t>Investigative Agent (OpenAI SDK)</a:t>
            </a:r>
            <a:br/>
            <a:r>
              <a:t>Triage Agent (Semantic Kernel)</a:t>
            </a:r>
            <a:br/>
            <a:r>
              <a:t>Foundry Agent (Agent Service)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4754880"/>
            <a:ext cx="219456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357ABD"/>
                </a:solidFill>
                <a:latin typeface="Calibri"/>
              </a:defRPr>
            </a:pPr>
            <a:r>
              <a:t>8 configurations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5321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Same prompts. Same ground truth. The only variable is how you build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"Not all AI use cases are created equal."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Your policy lookup chatbot and your legal case preparation tool have fundamentally different accuracy requirements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This framework helps you decide where to deploy aggressively, where to add guardrails, and where human review is non-negotiable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9418320" cy="7315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40280" y="4343400"/>
            <a:ext cx="457200" cy="4572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99432" y="4343400"/>
            <a:ext cx="457200" cy="457200"/>
          </a:xfrm>
          <a:prstGeom prst="ellipse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958584" y="4343400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17736" y="4343400"/>
            <a:ext cx="457200" cy="457200"/>
          </a:xfrm>
          <a:prstGeom prst="ellipse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676888" y="434340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AF50"/>
                </a:solidFill>
                <a:latin typeface="Calibri"/>
              </a:defRPr>
            </a:pPr>
            <a:r>
              <a:t>Low Stakes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54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E53935"/>
                </a:solidFill>
                <a:latin typeface="Calibri"/>
              </a:defRPr>
            </a:pPr>
            <a:r>
              <a:t>High Stakes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Five Levels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743200"/>
                <a:gridCol w="42976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Stakes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Inconvenience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"Find our leave policy"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8BC3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Summarization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Wasted time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"Summarize this audit report"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Operational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Misallocated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"How many open cases by type?"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Missed evidence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"Build a timeline from these records"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Adjudicative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Wrong legal outcome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"Prepare facts for this hearing"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8463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Where does your highest-priority use case fall?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Levels 1-2: The Quick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Document agents score 8 out of 10 with zero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Point Copilot at your SharePoint library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custom code, no databases, no tool design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Model choice barely matters at this level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Good enough for policy lookup, report summarization, meeting notes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206240"/>
            <a:ext cx="1828800" cy="73152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425196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035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most agencies should start. It works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3: Structured Data Starts Winning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Aggregate queries work across all agent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Document agents excel at single-case analysis (10/10) but can't count, sum, or filter across a full dataset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"How many active cases?" "What's the breakdown by county?" "Top 5 violators?" -- these require structured data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with structured data access -- both Copilot Studio MCP and pro-code -- answer every aggregate query correctly when paired with a capable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840480"/>
            <a:ext cx="4389120" cy="164592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53935"/>
                </a:solidFill>
                <a:latin typeface="Calibri"/>
              </a:defRPr>
            </a:pPr>
            <a:r>
              <a:t>Document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55555"/>
                </a:solidFill>
                <a:latin typeface="Calibri"/>
              </a:defRPr>
            </a:pPr>
            <a:r>
              <a:t>"I don't have that information."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840480"/>
            <a:ext cx="438912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886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MCP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9768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CPS: 18 cases</a:t>
            </a:r>
            <a:br/>
            <a:r>
              <a:t>TPR: 12 cases</a:t>
            </a:r>
            <a:br/>
            <a:r>
              <a:t>Guardianship: 8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where you start investing in data structure.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4: The Inflection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This is where engineering decisions determine success or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2D2D"/>
                </a:solidFill>
                <a:latin typeface="Calibri"/>
              </a:defRPr>
            </a:pPr>
            <a:r>
              <a:t>Three gaps emerged in testing: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3017520" cy="22860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GPT-4.1 scores 9.5/10</a:t>
            </a:r>
            <a:br/>
            <a:r>
              <a:t>vs GPT-4o at 4/10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743200"/>
            <a:ext cx="3017520" cy="22860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One missing tool caused</a:t>
            </a:r>
            <a:br/>
            <a:r>
              <a:t>87% failure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43200"/>
            <a:ext cx="3017520" cy="22860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8346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The Data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47472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Facts buried in narrative</a:t>
            </a:r>
            <a:br/>
            <a:r>
              <a:t>text were invisible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Level 4 is where the investment pays off -- or doesn't.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Model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GPT-4.1 vs GPT-4o: Same tools, same data, same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2148839"/>
            <a:ext cx="477774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8460" y="2103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GPT-4o (Government Cloud)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324612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200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  <a:latin typeface="Calibri"/>
              </a:defRPr>
            </a:pPr>
            <a:r>
              <a:t>4.0/10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Platform-assigned (M365)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4343399"/>
            <a:ext cx="100584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42976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3935"/>
                </a:solidFill>
                <a:latin typeface="Calibri"/>
              </a:defRPr>
            </a:pPr>
            <a:r>
              <a:t>2.0/10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Government Cloud Copilot Studio currently defaults to GPT-4o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No amount of prompt engineering closed this gap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D2D2D"/>
                </a:solidFill>
                <a:latin typeface="Calibri"/>
              </a:rPr>
              <a:t>Pro-code agents can use GPT-4.1 in Government Cloud via Azure OpenAI directly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Tool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87% failure rate from one missing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Agents could not convert "4763 Griscom St" to a database parcel ID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15 address lookups across 5 agents, only 2 succeeded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One fuzzy-match tool added: zero failures in retesting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Investigative Agent: 1 out of 10 to a perfect 10 out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384048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53935"/>
                </a:solidFill>
                <a:latin typeface="Calibri"/>
              </a:defRPr>
            </a:pPr>
            <a:r>
              <a:t>13 of 15 lookups failed</a:t>
            </a:r>
            <a:br/>
            <a:r>
              <a:t>1/10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384048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CAF50"/>
                </a:solidFill>
                <a:latin typeface="Calibri"/>
              </a:defRPr>
            </a:pPr>
            <a:r>
              <a:t>0 failures</a:t>
            </a:r>
            <a:br/>
            <a:r>
              <a:t>10/10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760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57ABD"/>
                </a:solidFill>
                <a:latin typeface="Calibri"/>
              </a:defRPr>
            </a:pPr>
            <a:r>
              <a:t>The change: one search_properties fuzzy-match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Level 5: Trust But Verify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Even our best agent reproduced a dangerous 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4754880" cy="18288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53935"/>
                </a:solidFill>
                <a:latin typeface="Calibri"/>
              </a:defRPr>
            </a:pPr>
            <a:r>
              <a:t>Sheriff's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"no fractures detected</a:t>
            </a:r>
            <a:br/>
            <a:r>
              <a:t>on skeletal survey"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03120"/>
            <a:ext cx="4754880" cy="18288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CAF50"/>
                </a:solidFill>
                <a:latin typeface="Calibri"/>
              </a:defRPr>
            </a:pPr>
            <a:r>
              <a:t>Medical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D2D2D"/>
                </a:solidFill>
                <a:latin typeface="Calibri"/>
              </a:defRPr>
            </a:pPr>
            <a:r>
              <a:t>Bilateral long bone</a:t>
            </a:r>
            <a:br/>
            <a:r>
              <a:t>fractures documented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7 of 8 document agents quoted the sheriff's report without cross-checking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The fix: document structure improvements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9377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Added cross-reference headers to each document (zero content changes)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Commercial agent: 8/10 to 10/10 -- pulled Medical Records as primary source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GCC agent: 3/10 to 9/10 across all 10 prompts with document hygiene alone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D2D2D"/>
                </a:solidFill>
                <a:latin typeface="Calibri"/>
              </a:rPr>
              <a:t>Zero code, zero engineering -- document hygiene any paralegal can implement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Danger Taxonomy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Five categories of AI failure, ranked by severity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5740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1. False Negative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57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Data retrieved, answer not recognized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880360"/>
            <a:ext cx="137160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2. Faithfully Reproduced Misinformation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Source document had an error, agent quoted it accurately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70332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57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3. Misattribution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Real fact, wrong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526280"/>
            <a:ext cx="1371600" cy="4572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4. Hallucinated Fact with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526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Invented detail with no 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349240"/>
            <a:ext cx="1371600" cy="4572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3035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5. Silent Failure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No results, no indication anything went 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These are not hypothetical. We documented each one across 462 test runs.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Iterative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Deploying an agent is not a one-time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2468880" cy="2743200"/>
          </a:xfrm>
          <a:prstGeom prst="round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Baseline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Measure failures</a:t>
            </a:r>
            <a:br/>
            <a:r>
              <a:t>against ground truth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86000"/>
            <a:ext cx="2468880" cy="27432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59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59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Make facts discrete</a:t>
            </a:r>
            <a:br/>
            <a:r>
              <a:t>and queryable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286000"/>
            <a:ext cx="2468880" cy="27432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Fix the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Help the model</a:t>
            </a:r>
            <a:br/>
            <a:r>
              <a:t>reach the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2286000"/>
            <a:ext cx="2468880" cy="2743200"/>
          </a:xfrm>
          <a:prstGeom prst="roundRect">
            <a:avLst/>
          </a:prstGeom>
          <a:solidFill>
            <a:srgbClr val="4295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Round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Validate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832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EEFF"/>
                </a:solidFill>
                <a:latin typeface="Calibri"/>
              </a:defRPr>
            </a:pPr>
            <a:r>
              <a:t>Confirm what works</a:t>
            </a:r>
            <a:br/>
            <a:r>
              <a:t>where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175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57ABD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03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Every organization will go through these rounds, in this order.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Results After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Six agents reached 9-10 out of 10 after iterative improvement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4183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371600"/>
                <a:gridCol w="1371600"/>
                <a:gridCol w="283464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 0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Final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SP/PDF/GCC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KB/DOCX/Com (Copilot Studio)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Cross-referenced docs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Commercial MCP (Copilot Studio)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Agent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Fuzzy-match tool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Descriptions + 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Agent (Semantic Kernel)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 rounds: tools+data+model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The first two rows required zero engineering -- just document hygiene.</a:t>
            </a:r>
            <a:br/>
            <a:r>
              <a:t>The rest required iterative tool and data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Code Spectrum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Zero code to full code -- same fidelity when you control the model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03120"/>
          <a:ext cx="9144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(Com)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(3 JSON manifests)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Copilot Studio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Zero to low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1-3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Minimal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3-4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Custom SDK (OpenAI, SK)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code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Levels 4-5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" y="45720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57ABD"/>
                </a:solidFill>
                <a:latin typeface="Calibri"/>
              </a:defRPr>
            </a:pPr>
            <a:r>
              <a:t>The investment buys governance and customization, not fidelity.</a:t>
            </a:r>
            <a:br/>
            <a:r>
              <a:t>Fidelity comes from the model and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Why Copilot Studio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One platform, declarative to pro-code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Same environment hosts zero-code SharePoint agents AND MCP-connected structured data agents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Model flexibility: swap GPT-4o for GPT-4.1, accuracy goes from 4/10 to 10/10 -- no config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Enterprise governance built in: DLP, audit logging, admin pre-approval for tool calls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M365 distribution: agents show up in Teams and Copilot chat -- no separate app to deploy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Our test data proves the platform works -- the model is the variable, not 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292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57ABD"/>
                </a:solidFill>
                <a:latin typeface="Calibri"/>
              </a:defRPr>
            </a:pPr>
            <a:r>
              <a:t>Commercial Copilot Studio MCP scored a perfect 10 out of 10.</a:t>
            </a:r>
            <a:br/>
            <a:r>
              <a:t>The architecture is sound. The limiting factor is model availability in GCC.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What to Do at Each Level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463040"/>
          <a:ext cx="96012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82296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1-2</a:t>
                      </a:r>
                    </a:p>
                  </a:txBody>
                  <a:tcPr anchor="ctr">
                    <a:solidFill>
                      <a:srgbClr val="4CAF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Deploy Copilot with SharePoint. Clean up document metadata. Done.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98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Connect to structured data via MCP. Clear tool descriptions. Summary modes.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451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Purpose-built tools. Models with strong multi-step reasoning (GPT-4.1 in our testing). Ground truth test suite. Budget 3+ rounds.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E539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Level 4 + human review workflows + audit logging + citation linking.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754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57ABD"/>
                </a:solidFill>
                <a:latin typeface="Calibri"/>
              </a:defRPr>
            </a:pPr>
            <a:r>
              <a:t>Match your investment to your accuracy requirement.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Government Cloud Customers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The GCC reality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Copilot Studio defaults to GPT-4o (adequate for Levels 1-3)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Pro-code agents can use GPT-4.1 via Azure OpenAI (Levels 4-5)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D2D2D"/>
                </a:solidFill>
                <a:latin typeface="Calibri"/>
              </a:rPr>
              <a:t>Monitor model updates -- GCC parity will improve over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1-3?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3200400" cy="914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3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Use Copilot Studio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Is your use case Level 4-5?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4754880"/>
            <a:ext cx="3200400" cy="91440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Deploy a pro-code agent</a:t>
            </a:r>
            <a:br/>
            <a:r>
              <a:t>with GPT-4.1.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657600"/>
            <a:ext cx="3200400" cy="9144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6576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D2D2D"/>
                </a:solidFill>
                <a:latin typeface="Calibri"/>
              </a:defRPr>
            </a:pPr>
            <a:r>
              <a:t>Planning for Level 4-5</a:t>
            </a:r>
            <a:br/>
            <a:r>
              <a:t>in the future?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754880"/>
            <a:ext cx="3200400" cy="914400"/>
          </a:xfrm>
          <a:prstGeom prst="round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Start building ground truth</a:t>
            </a:r>
            <a:br/>
            <a:r>
              <a:t>test suites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C4E8"/>
                </a:solidFill>
                <a:latin typeface="Calibri"/>
              </a:defRPr>
            </a:pPr>
            <a:r>
              <a:t>"Same agent. Change one variable. Watch the result change."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1: Document Quality  (~10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3 agents, same model, 3 SharePoint libraries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Raw  -&gt;  Cross-Referenced  -&gt;  Enriched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Skeletal survey: FAIL -&gt; PASS -&gt;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Marcus Webb: FAIL -&gt; PARTIAL -&gt;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Score arc: 3/10 -&gt; 7/10 -&gt; 8/10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Cost: $0, 45 minutes of document hygiene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Part 2: Model Selection  (~8 min)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5029200" cy="36576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1 Dataverse MCP agent, swap model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GPT-4o  -&gt;  Sonnet 4.6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31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TPR case filter: 0 -&gt;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Cross-doc reasoning: 0 -&gt;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Time gap calculation: 0 -&gt;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DDEE"/>
                </a:solidFill>
                <a:latin typeface="Calibri"/>
              </a:defRPr>
            </a:pPr>
            <a:r>
              <a:t>Full battery: 1/11 -&gt; 6/11 -&gt; 11/11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943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8AACC"/>
                </a:solidFill>
                <a:latin typeface="Calibri"/>
              </a:defRPr>
            </a:pPr>
            <a:r>
              <a:t>All demos run in Copilot Studio -- no custom code UI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Agent Challenged Its Own Premise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A pro-code agent questioned the question -- and was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Asked about a $146,000 purchase vs a $357,100 assessment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checked the source data: actual assessment was $53,155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Recalculated using verified numbers instead of the prompt's numbers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No other agent questioned the input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4206240"/>
            <a:ext cx="8503920" cy="109728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51960"/>
            <a:ext cx="8138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C5F8A"/>
                </a:solidFill>
                <a:latin typeface="Calibri"/>
              </a:defRPr>
            </a:pPr>
            <a:r>
              <a:t>"The assessment value in our records is $53,155, not $357,100 as stated in the question. Using the verified assessment value..."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55555"/>
                </a:solidFill>
                <a:latin typeface="Calibri"/>
              </a:defRPr>
            </a:pPr>
            <a:r>
              <a:t>This is what custom orchestration enables -- but only with iterative testing.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Surprising Finding: False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The model retrieved the answer and didn't recognize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Agent called the right tools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Received data containing "two positive drug screens (fentanyl)"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Concluded: "no drug test results exist in the available data"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D2D2D"/>
                </a:solidFill>
                <a:latin typeface="Calibri"/>
              </a:rPr>
              <a:t>Invisible to users: tool calls look correct, answer sounds confident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4572000" cy="13716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CAF50"/>
                </a:solidFill>
                <a:latin typeface="Calibri"/>
              </a:defRPr>
            </a:pPr>
            <a:r>
              <a:t>Tool Output (correct)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"two positive drug screens</a:t>
            </a:r>
            <a:br/>
            <a:r>
              <a:t>(fentanyl)"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14800"/>
            <a:ext cx="4572000" cy="137160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935"/>
                </a:solidFill>
                <a:latin typeface="Calibri"/>
              </a:defRPr>
            </a:pPr>
            <a:r>
              <a:t>Agent Conclusion (wrong)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5720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D2D2D"/>
                </a:solidFill>
                <a:latin typeface="Calibri"/>
              </a:defRPr>
            </a:pPr>
            <a:r>
              <a:t>"no drug test results exist</a:t>
            </a:r>
            <a:br/>
            <a:r>
              <a:t>in the available data"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62828"/>
                </a:solidFill>
                <a:latin typeface="Calibri"/>
              </a:defRPr>
            </a:pPr>
            <a:r>
              <a:t>This is why you need ground truth testing. You cannot catch this in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The Bottom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Three numbers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3200400" cy="32004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8/10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zero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1-2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103120"/>
            <a:ext cx="3200400" cy="3200400"/>
          </a:xfrm>
          <a:prstGeom prst="round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9.5/10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What you get with</a:t>
            </a:r>
            <a:br/>
            <a:r>
              <a:t>purpose-built tools + 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Levels 3-4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03120"/>
            <a:ext cx="3200400" cy="32004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Trust</a:t>
            </a:r>
            <a:br/>
            <a:r>
              <a:t>But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4747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No score is high enough</a:t>
            </a:r>
            <a:br/>
            <a:r>
              <a:t>to skip human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DEEFF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555555"/>
                </a:solidFill>
                <a:latin typeface="Calibri"/>
              </a:defRPr>
            </a:pPr>
            <a:r>
              <a:t>"The question is not 'should we deploy AI?' The question is 'which level are we operating at, and have we invested accordingly?'"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327" y="6035040"/>
            <a:ext cx="2011680" cy="4114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L1: Discovery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41167" y="6035040"/>
            <a:ext cx="2011680" cy="411480"/>
          </a:xfrm>
          <a:prstGeom prst="roundRect">
            <a:avLst/>
          </a:prstGeom>
          <a:solidFill>
            <a:srgbClr val="8BC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L2: Summarization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0007" y="6035040"/>
            <a:ext cx="2011680" cy="4114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L3: Operational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8847" y="6035040"/>
            <a:ext cx="2011680" cy="411480"/>
          </a:xfrm>
          <a:prstGeom prst="roundRect">
            <a:avLst/>
          </a:prstGeom>
          <a:solidFill>
            <a:srgbClr val="F45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L4: Investigative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87687" y="6035040"/>
            <a:ext cx="2011680" cy="4114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L5: Adjudicative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  <a:latin typeface="Calibri"/>
              </a:defRPr>
            </a:pPr>
            <a:r>
              <a:t>Full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54864"/>
          </a:xfrm>
          <a:prstGeom prst="rect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462 test runs, 21 agent configurations, 2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1: Legal Case Analysis (15 agents)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4297680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Case Analyst (pro-code)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KB/DOCX/GCC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SP/DOCX/GCC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7/10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GPT-5 Auto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DV/GCC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Use Case 2: Investigative Analytics (8 agents)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2057400"/>
          <a:ext cx="4297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7315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2C5F8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MCP/Com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Investigative (OpenAI SDK)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Triage (Semantic Kernel)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Foundry Agent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SP/PDF/Com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8/10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CS MCP/GCC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M365 Copilot MCP/Com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2/10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" y="60350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55555"/>
                </a:solidFill>
                <a:latin typeface="Calibri"/>
              </a:defRPr>
            </a:pPr>
            <a:r>
              <a:t>Dataverse MCP: Sonnet 4.6 (10/10), GPT-4.1 (6/10), GPT-5 Auto (4/10), GPT-4o (2/10). Newer models are not always better.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Calibri"/>
              </a:defRPr>
            </a:pPr>
            <a:r>
              <a:t>Confidential  |  March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C4E8"/>
                </a:solidFill>
                <a:latin typeface="Calibri"/>
              </a:defRPr>
            </a:pPr>
            <a:r>
              <a:t>Start the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92608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Where do your use cases fall on the spectrum?</a:t>
            </a:r>
          </a:p>
        </p:txBody>
      </p:sp>
      <p:sp>
        <p:nvSpPr>
          <p:cNvPr id="5" name="Oval 4"/>
          <p:cNvSpPr/>
          <p:nvPr/>
        </p:nvSpPr>
        <p:spPr>
          <a:xfrm>
            <a:off x="2286000" y="306324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365760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 data do you already have in structured form?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379476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438912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What's your risk tolerance for AI-generated output?</a:t>
            </a:r>
          </a:p>
        </p:txBody>
      </p:sp>
      <p:sp>
        <p:nvSpPr>
          <p:cNvPr id="9" name="Oval 8"/>
          <p:cNvSpPr/>
          <p:nvPr/>
        </p:nvSpPr>
        <p:spPr>
          <a:xfrm>
            <a:off x="2286000" y="452628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120640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Ready for a deeper dive? We have the architecture, the test data, and the framework.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5257800"/>
            <a:ext cx="182880" cy="182880"/>
          </a:xfrm>
          <a:prstGeom prst="ellipse">
            <a:avLst/>
          </a:prstGeom>
          <a:solidFill>
            <a:srgbClr val="357A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A0C4E8"/>
                </a:solidFill>
                <a:latin typeface="Calibri"/>
              </a:defRPr>
            </a:pPr>
            <a:r>
              <a:t>I'm not here to sell you a product. I'm here to help you make the right investment for your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