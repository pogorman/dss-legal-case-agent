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of you may remember me from such demos as the delegation demo, or one of my many ALM demos. Those demos and this one have something in common: I like to build test harnesses for real-world use cases my customers care about. And they all deal with the same fundamental topic: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story on one slide. Everything that follows is how we got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You'll see these names on every chart going forward. The important thing is the spectrum: on the left, you're up and running in an afternoon. On the right, you have full control. The question is which level of fidelity you need -- and that's what the rest of this talk is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policy lookup chatbot that hallucinates a deadline is annoying. A legal case prep tool that misses a discrepancy can change an outcome. The framework we're about to walk through helps you match your engineering investment to the stakes of the use case -- so you know when 'good enough' really is good enough, and when it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the single biggest variable at Level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design is as important as model selection. Maybe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daily experience: Copilot helps you draft an email -- you review it. Copilot helps you write code -- you review it. Why would we skip human review at any of these five levels, especially Level 5 where the stakes are a family's future?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critical for the tech series. MUST articulate the platform value, not just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what works today. Plan for what's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relatable prompt in the deck. Everyone understands 'did the parent tell the same story to the nurse and the police?' Raw docs: agent only found the Sheriff Report. Cross-refs: found both sources but couldn't retrieve the nursing notes detail. Metadata: the keywords 'nursing interview' and 'parent statements' on Medical Records told the agent exactly where to look. $0, 45 minutes, no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do we do? Do we just give up on agents? No -- you continue to test them and make them better, and you always adhere to trust but verify. I have agents building apps for me right now. If I were building production enterprise apps, I'd have a team of human developers checking the work, helping test, reviewing agentic results. The AI accelerates the team. The team validates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462 data points. The pattern is clear: the model and the data matter more than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Agent Fidelity</a:t>
            </a:r>
            <a:br/>
            <a:r>
              <a:t>for Government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C4E8"/>
                </a:solidFill>
                <a:latin typeface="Calibri"/>
              </a:defRPr>
            </a:pPr>
            <a:r>
              <a:t>A Five-Level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Findings from 462 Test Runs Across 21 Agent Configurations and 6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Calibri"/>
              </a:defRPr>
            </a:pPr>
            <a:r>
              <a:t>27 Slides  |  March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51206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51206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51206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51206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51206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57ABD"/>
                </a:solidFill>
                <a:latin typeface="Calibri"/>
              </a:defRPr>
            </a:pPr>
            <a:r>
              <a:t>462 test runs  |  21 agents  |  6 models  |  27 slides  |  2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Calibri"/>
              </a:defRPr>
            </a:pPr>
            <a:r>
              <a:t>462 test runs across 21 agent configurations and 6 models, 2 government use cases, and 7 testing rounds. Three gaps emerged at the higher levels: tools, data, and model. Every gap was fixable, and none required AI expertise.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94560"/>
            <a:ext cx="3474720" cy="1280160"/>
          </a:xfrm>
          <a:prstGeom prst="round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137160" cy="128016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C34A"/>
                </a:solidFill>
                <a:latin typeface="Calibri"/>
              </a:defRPr>
            </a:pPr>
            <a:r>
              <a:t>Levels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Just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8/10 with zero customization.</a:t>
            </a:r>
            <a:br/>
            <a:r>
              <a:t>Model choice irrelevant.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194560"/>
            <a:ext cx="347472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2194560"/>
            <a:ext cx="137160" cy="1280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alibri"/>
              </a:defRPr>
            </a:pPr>
            <a:r>
              <a:t>Level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Data Over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346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MCP outperformed document search</a:t>
            </a:r>
            <a:br/>
            <a:r>
              <a:t>on every aggregate query.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703320"/>
            <a:ext cx="3474720" cy="128016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703320"/>
            <a:ext cx="137160" cy="1280160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7947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511E"/>
                </a:solidFill>
                <a:latin typeface="Calibri"/>
              </a:defRPr>
            </a:pPr>
            <a:r>
              <a:t>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The Inflection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Three gaps emerged: tools, data,</a:t>
            </a:r>
            <a:br/>
            <a:r>
              <a:t>and model. All fixable.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703320"/>
            <a:ext cx="3474720" cy="128016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703320"/>
            <a:ext cx="137160" cy="12801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7947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Level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233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Human in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High fidelity at L4 means humans</a:t>
            </a:r>
            <a:br/>
            <a:r>
              <a:t>review conclusions, not raw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2194560"/>
            <a:ext cx="2560320" cy="30175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2194560"/>
            <a:ext cx="91440" cy="3017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2A4A"/>
                </a:solidFill>
                <a:latin typeface="Calibri"/>
              </a:defRPr>
            </a:pPr>
            <a:r>
              <a:t>The Five Levels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743200"/>
            <a:ext cx="32004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3200400"/>
            <a:ext cx="320040" cy="32004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3200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Summarization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657600"/>
            <a:ext cx="320040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4114800"/>
            <a:ext cx="320040" cy="32004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19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Investigative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4572000"/>
            <a:ext cx="32004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Adjudicative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349240"/>
            <a:ext cx="4754880" cy="86868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97280" y="5349240"/>
            <a:ext cx="137160" cy="86868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53949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7ABD"/>
                </a:solidFill>
                <a:latin typeface="Calibri"/>
              </a:defRPr>
            </a:pPr>
            <a:r>
              <a:t>Use Case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5961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Legal Case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852159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50 cases, 277 people, 333 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007607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15 agent configurations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349240"/>
            <a:ext cx="4754880" cy="86868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349240"/>
            <a:ext cx="137160" cy="86868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3949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7ABD"/>
                </a:solidFill>
                <a:latin typeface="Calibri"/>
              </a:defRPr>
            </a:pPr>
            <a:r>
              <a:t>Use Case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5961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Investigative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852159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34M rows, 584K properties, 1.6M violations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007607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8 agent configurations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Two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Two real government scenarios, twenty-one agent configurations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4937760" cy="32004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03120"/>
            <a:ext cx="137160" cy="32004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Legal Case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50 synthetic legal cases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277 people, 333 timeline events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338 statements, 151 discrepancies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Can an AI agent prepare a case for an attorney as well as a paralegal?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4937760" cy="32004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137160" cy="32004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Investigative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34 million rows of property 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584K properties, 1.6M violations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Can an AI agent surface patterns an investigator would otherwise miss?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Calibri"/>
              </a:defRPr>
            </a:pPr>
            <a:r>
              <a:t>Both use cases came from real customer conversations. The data is synthetic but the structure mirrors production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How This Was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One solution engineer. One AI coding assistant. Four weeks.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3200400" cy="3200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Human-Directed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Architecture decisions, Azure</a:t>
            </a:r>
            <a:br/>
            <a:r>
              <a:t>service selection, schema design,</a:t>
            </a:r>
            <a:br/>
            <a:r>
              <a:t>security posture, and the five-level</a:t>
            </a:r>
            <a:br/>
            <a:r>
              <a:t>fidelity framework came from</a:t>
            </a:r>
            <a:br/>
            <a:r>
              <a:t>domain expertise and customer</a:t>
            </a:r>
            <a:br/>
            <a:r>
              <a:t>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103120"/>
            <a:ext cx="3200400" cy="320040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AI-Accelerated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TypeScript Functions, MCP server,</a:t>
            </a:r>
            <a:br/>
            <a:r>
              <a:t>SQL schema, 50 synthetic cases,</a:t>
            </a:r>
            <a:br/>
            <a:r>
              <a:t>web UI, six PDF generators, and</a:t>
            </a:r>
            <a:br/>
            <a:r>
              <a:t>this deck were generated by AI</a:t>
            </a:r>
            <a:br/>
            <a:r>
              <a:t>and reviewed by a human.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200400" cy="3200400"/>
          </a:xfrm>
          <a:prstGeom prst="roundRect">
            <a:avLst/>
          </a:prstGeom>
          <a:solidFill>
            <a:srgbClr val="42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Human-Verified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462 test runs across 21 agent</a:t>
            </a:r>
            <a:br/>
            <a:r>
              <a:t>configurations and 6 models,</a:t>
            </a:r>
            <a:br/>
            <a:r>
              <a:t>scored by hand.</a:t>
            </a:r>
            <a:br/>
            <a:r>
              <a:t>Every dangerous response was</a:t>
            </a:r>
            <a:br/>
            <a:r>
              <a:t>caught through manual review.</a:t>
            </a:r>
            <a:br/>
            <a:r>
              <a:t>That is exactly the point</a:t>
            </a:r>
            <a:br/>
            <a:r>
              <a:t>of Level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Calibri"/>
              </a:defRPr>
            </a:pPr>
            <a:r>
              <a:t>We practiced what we preach. This entire project is Level 5: AI-accelerated, human-verified.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Meet the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21 configurations, 3 approaches, 1 set of test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291840" cy="34747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Zero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EEFF"/>
                </a:solidFill>
                <a:latin typeface="Calibri"/>
              </a:defRPr>
            </a:pPr>
            <a:r>
              <a:t>M365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Three JSON manifest files</a:t>
            </a:r>
            <a:br/>
            <a:r>
              <a:t>pointing at the MCP server.</a:t>
            </a:r>
            <a:br/>
            <a:r>
              <a:t>Platform picks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754880"/>
            <a:ext cx="21945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4CAF50"/>
                </a:solidFill>
                <a:latin typeface="Calibri"/>
              </a:defRPr>
            </a:pPr>
            <a:r>
              <a:t>1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291840" cy="34747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Configure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EEFF"/>
                </a:solidFill>
                <a:latin typeface="Calibri"/>
              </a:defRPr>
            </a:pPr>
            <a:r>
              <a:t>Copilot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SharePoint docs, knowledge base,</a:t>
            </a:r>
            <a:br/>
            <a:r>
              <a:t>MCP server, or Dataverse --</a:t>
            </a:r>
            <a:br/>
            <a:r>
              <a:t>same platform, different</a:t>
            </a:r>
            <a:br/>
            <a:r>
              <a:t>data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754880"/>
            <a:ext cx="21945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9800"/>
                </a:solidFill>
                <a:latin typeface="Calibri"/>
              </a:defRPr>
            </a:pPr>
            <a:r>
              <a:t>12 configurations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291840" cy="34747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Build It Yourself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EEFF"/>
                </a:solidFill>
                <a:latin typeface="Calibri"/>
              </a:defRPr>
            </a:pPr>
            <a:r>
              <a:t>Pro-Code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71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Case Analyst (TypeScript)</a:t>
            </a:r>
            <a:br/>
            <a:r>
              <a:t>Investigative Agent (OpenAI SDK)</a:t>
            </a:r>
            <a:br/>
            <a:r>
              <a:t>Triage Agent (Semantic Kernel)</a:t>
            </a:r>
            <a:br/>
            <a:r>
              <a:t>Foundry Agent (Agent Service)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4754880"/>
            <a:ext cx="21945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357ABD"/>
                </a:solidFill>
                <a:latin typeface="Calibri"/>
              </a:defRPr>
            </a:pPr>
            <a:r>
              <a:t>8 configurations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Calibri"/>
              </a:defRPr>
            </a:pPr>
            <a:r>
              <a:t>Same prompts. Same ground truth. The only variable is how you build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"Not all AI use cases are created equal."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Your policy lookup chatbot and your legal case preparation tool have fundamentally different accuracy requirements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This framework helps you decide where to deploy aggressively, where to add guardrails, and where human review is non-negotiable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418320" cy="731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40280" y="4343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4343400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58584" y="434340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17736" y="4343400"/>
            <a:ext cx="457200" cy="457200"/>
          </a:xfrm>
          <a:prstGeom prst="ellipse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76888" y="434340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Low 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53935"/>
                </a:solidFill>
                <a:latin typeface="Calibri"/>
              </a:defRPr>
            </a:pPr>
            <a:r>
              <a:t>High Stakes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Five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966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743200"/>
                <a:gridCol w="4297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Discovery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Inconvenience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"Find our leave policy"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Summarization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Wasted time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"Summarize this audit report"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Misallocated resources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"How many open cases by type?"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51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Investigative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Missed evidence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"Build a timeline from these records"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Adjudicative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Wrong legal outcome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"Prepare facts for this hearing"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57ABD"/>
                </a:solidFill>
                <a:latin typeface="Calibri"/>
              </a:defRPr>
            </a:pPr>
            <a:r>
              <a:t>Where does your highest-priority use case fall?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Levels 1-2: The Quick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Document agents score 8 out of 10 with zero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Point Copilot at your SharePoint library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No custom code, no databases, no tool design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Model choice barely matters at this level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Good enough for policy lookup, report summarization, meeting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206240"/>
            <a:ext cx="1828800" cy="7315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4206240"/>
            <a:ext cx="1828800" cy="7315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SharePoint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206240"/>
            <a:ext cx="1828800" cy="7315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4251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251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This is where most agencies should start. It works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 3: Structured Data Starts Winning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Aggregate queries work across all agent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Document agents excel at single-case analysis (10/10) but can't count, sum, or filter across a full dataset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"How many active cases?" "What's the breakdown by county?" "Top 5 violators?" -- these require structured data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Agents with structured data access -- both Copilot Studio MCP and pro-code -- answer every aggregate query correctly when paired with a capable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40480"/>
            <a:ext cx="4389120" cy="1645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Document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Calibri"/>
              </a:defRPr>
            </a:pPr>
            <a:r>
              <a:t>"I don't have that information."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43891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MCP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976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CPS: 18 cases</a:t>
            </a:r>
            <a:br/>
            <a:r>
              <a:t>TPR: 12 cases</a:t>
            </a:r>
            <a:br/>
            <a:r>
              <a:t>Guardianship: 8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This is where you start investing in data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 4: The Inflection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This is where engineering decisions determine success or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Three gaps emerged in testing: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3017520" cy="228600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Model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GPT-4.1 scores 9.5/10</a:t>
            </a:r>
            <a:br/>
            <a:r>
              <a:t>vs GPT-4o at 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743200"/>
            <a:ext cx="3017520" cy="2286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Tool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One missing tool caused</a:t>
            </a:r>
            <a:br/>
            <a:r>
              <a:t>87% failure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43200"/>
            <a:ext cx="301752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Data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Facts buried in narrative</a:t>
            </a:r>
            <a:br/>
            <a:r>
              <a:t>text were invisible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Level 4 is where the investment pays off -- or doesn't.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Model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GPT-4.1 vs GPT-4o: Same tools, same data, same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GPT-4.1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148839"/>
            <a:ext cx="477774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846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9.5/10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GPT-4o (Government Cloud)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24612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Calibri"/>
              </a:defRPr>
            </a:pPr>
            <a:r>
              <a:t>4.0/10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Platform-assigned (M365)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343399"/>
            <a:ext cx="100584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297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  <a:latin typeface="Calibri"/>
              </a:defRPr>
            </a:pPr>
            <a:r>
              <a:t>2.0/10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Calibri"/>
              </a:rPr>
              <a:t>Government Cloud currently defaults to GPT-4o; expanded model availability on the roadmap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Calibri"/>
              </a:rPr>
              <a:t>No amount of prompt engineering closed this gap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Calibri"/>
              </a:rPr>
              <a:t>Pro-code agents can use GPT-4.1 in Government Cloud via Azure OpenAI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Tool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87% failure rate from one missing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Agents could not convert "4763 Griscom St" to a database parcel ID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15 address lookups across 5 agents, only 2 succeeded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One fuzzy-match tool added: zero failures in retesting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Investigative Agent: 1 out of 10 to a perfect 10 out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06240"/>
            <a:ext cx="3840480" cy="14630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53935"/>
                </a:solidFill>
                <a:latin typeface="Calibri"/>
              </a:defRPr>
            </a:pPr>
            <a:r>
              <a:t>13 of 15 lookups failed</a:t>
            </a:r>
            <a:br/>
            <a:r>
              <a:t>1/10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4805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206240"/>
            <a:ext cx="384048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CAF50"/>
                </a:solidFill>
                <a:latin typeface="Calibri"/>
              </a:defRPr>
            </a:pPr>
            <a:r>
              <a:t>0 failures</a:t>
            </a:r>
            <a:br/>
            <a:r>
              <a:t>10/10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57ABD"/>
                </a:solidFill>
                <a:latin typeface="Calibri"/>
              </a:defRPr>
            </a:pPr>
            <a:r>
              <a:t>The change: one search_properties fuzzy-match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 5: Trust But Verify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Even our best agent reproduced a dangerous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4754880" cy="18288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Sheriff's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Calibri"/>
              </a:defRPr>
            </a:pPr>
            <a:r>
              <a:t>"no fractures detected</a:t>
            </a:r>
            <a:br/>
            <a:r>
              <a:t>on skeletal survey"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03120"/>
            <a:ext cx="475488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Medical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Calibri"/>
              </a:defRPr>
            </a:pPr>
            <a:r>
              <a:t>Bilateral long bone</a:t>
            </a:r>
            <a:br/>
            <a:r>
              <a:t>fractures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7 of 8 document agents quoted the sheriff's report without cross-checking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fix: document structure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Added cross-reference headers to each document (zero content changes)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Commercial agent: 8/10 to 10/10 -- pulled Medical Records as primary source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GCC agent: 3/10 to 9/10 across all 10 prompts with document hygiene alone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Zero code, zero engineering -- document hygiene any paralegal can implement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Danger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Five categories of AI failure, ranked by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57400"/>
            <a:ext cx="13716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1. False Negative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Data retrieved, answer not recognized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80360"/>
            <a:ext cx="13716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2. Faithfully Reproduced Misinformation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80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Source document had an error, agent quoted it accurately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703320"/>
            <a:ext cx="13716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3. Misattribution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03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Real fact, wrong person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26280"/>
            <a:ext cx="13716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4. Hallucinated Fact with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Invented detail with no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49240"/>
            <a:ext cx="1371600" cy="4572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03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5. Silent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No results, no indication anything went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57ABD"/>
                </a:solidFill>
                <a:latin typeface="Calibri"/>
              </a:defRPr>
            </a:pPr>
            <a:r>
              <a:t>These are not hypothetical. We documented each one across 462 test runs.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Iterative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Deploying an agent is not a one-time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2468880" cy="274320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Baseline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Measure failures</a:t>
            </a:r>
            <a:br/>
            <a:r>
              <a:t>against ground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286000"/>
            <a:ext cx="2468880" cy="27432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Fix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Make facts discrete</a:t>
            </a:r>
            <a:br/>
            <a:r>
              <a:t>and queryable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286000"/>
            <a:ext cx="2468880" cy="274320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Fix the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Help the model</a:t>
            </a:r>
            <a:br/>
            <a:r>
              <a:t>reach the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286000"/>
            <a:ext cx="2468880" cy="2743200"/>
          </a:xfrm>
          <a:prstGeom prst="roundRect">
            <a:avLst/>
          </a:prstGeom>
          <a:solidFill>
            <a:srgbClr val="42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Confirm what works</a:t>
            </a:r>
            <a:br/>
            <a:r>
              <a:t>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Every organization will go through these rounds, in this order.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Results After Iteration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Six agents reached 9-10 out of 10 after iterative improvement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03120"/>
          <a:ext cx="9418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37160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 0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SP/PDF/GCC (Copilot Studio)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Cross-referenced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KB/DOCX/Com (Copilot Studio)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Cross-referenced docs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Commercial MCP (Copilot Studio)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Descriptions +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Investigative Agent (OpenAI SDK)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Fuzzy-match tool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Foundry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Descriptions +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Triage Agent (Semantic Kernel)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 rounds: tools+data+model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029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The first two rows required zero engineering -- just document hygiene.</a:t>
            </a:r>
            <a:br/>
            <a:r>
              <a:t>The rest required iterative tool and data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Code Spectrum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Zero code to full code -- same fidelity when you control the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03120"/>
          <a:ext cx="9144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M365 Copilot (Com)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Zero (3 JSON manifests)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Copilot Studio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Zero to low code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1-3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Foundry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Minimal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3-4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 SDK (OpenAI, SK)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code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4-5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45720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57ABD"/>
                </a:solidFill>
                <a:latin typeface="Calibri"/>
              </a:defRPr>
            </a:pPr>
            <a:r>
              <a:t>The investment buys governance and customization, not fidelity.</a:t>
            </a:r>
            <a:br/>
            <a:r>
              <a:t>Fidelity comes from the model and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Why Copilot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One platform, declarative to pro-code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Same environment hosts zero-code SharePoint agents AND MCP-connected structured data agents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Model flexibility: swap GPT-4o for GPT-4.1, accuracy goes from 4/10 to 10/10 -- no config changes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Enterprise governance built in: DLP, audit logging, admin pre-approval for tool calls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M365 distribution: agents show up in Teams and Copilot chat -- no separate app to deploy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Our test data proves the platform works -- the model is the variable, not 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57ABD"/>
                </a:solidFill>
                <a:latin typeface="Calibri"/>
              </a:defRPr>
            </a:pPr>
            <a:r>
              <a:t>Commercial Copilot Studio MCP scored a perfect 10 out of 10.</a:t>
            </a:r>
            <a:br/>
            <a:r>
              <a:t>The architecture is sound. The limiting factor is model availability in GCC.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What to Do at Each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60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Deploy Copilot with SharePoint. Clean up document metadata. Done.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Connect to structured data via MCP. Clear tool descriptions. Summary modes.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51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Purpose-built tools. Models with strong multi-step reasoning (GPT-4.1 in our testing). Ground truth test suite. Budget 3+ rounds.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 4 + human review workflows + audit logging + citation linking.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57ABD"/>
                </a:solidFill>
                <a:latin typeface="Calibri"/>
              </a:defRPr>
            </a:pPr>
            <a:r>
              <a:t>Match your investment to your accuracy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Government Cloud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The GCC reality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Copilot Studio defaults to GPT-4o (adequate for Levels 1-3)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Pro-code agents can use GPT-4.1 via Azure OpenAI (Levels 4-5)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Monitor model updates -- GCC parity will improve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3200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Is your use case Level 1-3?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54880"/>
            <a:ext cx="32004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 Copilot Studio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657600"/>
            <a:ext cx="3200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Is your use case Level 4-5?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754880"/>
            <a:ext cx="3200400" cy="91440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 a pro-code agent</a:t>
            </a:r>
            <a:br/>
            <a:r>
              <a:t>with GPT-4.1.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200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Planning for Level 4-5</a:t>
            </a:r>
            <a:br/>
            <a:r>
              <a:t>in the future?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54880"/>
            <a:ext cx="320040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Start building ground truth</a:t>
            </a:r>
            <a:br/>
            <a:r>
              <a:t>test suites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E8"/>
                </a:solidFill>
                <a:latin typeface="Calibri"/>
              </a:defRPr>
            </a:pPr>
            <a:r>
              <a:t>"Same agent. Change one variable. Watch the result change."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Part 1: Document Quality  (~10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5029200" cy="36576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3 agents, same model, 3 SharePoint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29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Raw  -&gt;  Cross-Referenced  -&gt;  Enriched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Skeletal survey: FAIL -&gt; PASS -&gt;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Marcus Webb: FAIL -&gt; PARTIAL -&gt;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Score arc: 3/10 -&gt; 7/10 -&gt; 8/10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440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Cost: $0, 45 minutes of document hygiene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Part 2: Model Selection  (~8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5029200" cy="36576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1 Dataverse MCP agent, swap model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GPT-4o  -&gt;  Sonnet 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TPR case filter: 0 -&gt;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Cross-doc reasoning: 0 -&gt;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Time gap calculation: 0 -&gt;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440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  <a:latin typeface="Calibri"/>
              </a:defRPr>
            </a:pPr>
            <a:r>
              <a:t>Full battery: 1/11 -&gt; 6/11 -&gt; 11/11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AACC"/>
                </a:solidFill>
                <a:latin typeface="Calibri"/>
              </a:defRPr>
            </a:pPr>
            <a:r>
              <a:t>All demos run in Copilot Studio -- no custom code UI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One Prompt, Three Interventions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34440"/>
            <a:ext cx="9966960" cy="640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Calibri"/>
              </a:defRPr>
            </a:pPr>
            <a:r>
              <a:t>"What did Marcus Webb tell hospital staff about when he put Jaylen to bed, and did he give the same answer to law enforcement?"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383280" cy="338328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338328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Raw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606040"/>
            <a:ext cx="1280160" cy="3657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Found: Sheriff Report interview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Missed: Nursing notes in Medical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The agent has no reason to look</a:t>
            </a:r>
            <a:br/>
            <a:r>
              <a:t>in a medical record for</a:t>
            </a:r>
            <a:br/>
            <a:r>
              <a:t>parent statements.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057400"/>
            <a:ext cx="3383280" cy="3383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057400"/>
            <a:ext cx="3383280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Cross-Referenced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2606040"/>
            <a:ext cx="1280160" cy="36576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Found: Both sources 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A825"/>
                </a:solidFill>
                <a:latin typeface="Calibri"/>
              </a:defRPr>
            </a:pPr>
            <a:r>
              <a:t>Missed: Specific nursing note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Cross-reference header points to</a:t>
            </a:r>
            <a:br/>
            <a:r>
              <a:t>Medical Records, but the agent</a:t>
            </a:r>
            <a:br/>
            <a:r>
              <a:t>still can't find nursing notes.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057400"/>
            <a:ext cx="3383280" cy="3383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057400"/>
            <a:ext cx="3383280" cy="1097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Enriched +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606040"/>
            <a:ext cx="128016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108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Found: Both statements, correct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Missed: Nothing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SP metadata: "nursing interview,</a:t>
            </a:r>
            <a:br/>
            <a:r>
              <a:t>parent statements" on Medical</a:t>
            </a:r>
            <a:br/>
            <a:r>
              <a:t>Records enables retrieval.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60520" y="3383280"/>
            <a:ext cx="457200" cy="320040"/>
          </a:xfrm>
          <a:prstGeom prst="rightArrow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909559" y="3383280"/>
            <a:ext cx="457200" cy="320040"/>
          </a:xfrm>
          <a:prstGeom prst="rightArrow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71600" y="5623560"/>
            <a:ext cx="9418320" cy="5029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5623560"/>
            <a:ext cx="109728" cy="50292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6692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Cross-references fix reasoning errors. Metadata fixes retrieval errors. You need both.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Surprising Finding: Agent Challenged Its Own Premise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A pro-code agent questioned the question -- and was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Asked about a $146,000 purchase vs a $357,100 assessment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 checked the source data: actual assessment was $53,155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Recalculated using verified numbers instead of the prompt's numbers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No other agent questioned the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06240"/>
            <a:ext cx="850392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5196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C5F8A"/>
                </a:solidFill>
                <a:latin typeface="Calibri"/>
              </a:defRPr>
            </a:pPr>
            <a:r>
              <a:t>"The assessment value in our records is $53,155, not $357,100 as stated in the question. Using the verified assessment value..."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This is what custom orchestration enables -- but only with iterative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Surprising Finding: False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The model retrieved the answer and didn't recognize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 called the right tools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Received data containing "two positive drug screens (fentanyl)"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Concluded: "no drug test results exist in the available data"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Invisible to users: tool calls look correct, answer sounds confident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14800"/>
            <a:ext cx="45720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Calibri"/>
              </a:defRPr>
            </a:pPr>
            <a:r>
              <a:t>Tool Output (correct)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572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"two positive drug screens</a:t>
            </a:r>
            <a:br/>
            <a:r>
              <a:t>(fentanyl)"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4572000" cy="13716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Agent Conclusion (wrong)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"no drug test results exist</a:t>
            </a:r>
            <a:br/>
            <a:r>
              <a:t>in the available data"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This is why you need ground truth testing. You cannot catch this in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Three numbers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3200400" cy="3200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 you get with</a:t>
            </a:r>
            <a:br/>
            <a:r>
              <a:t>zero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Calibri"/>
              </a:defRPr>
            </a:pPr>
            <a:r>
              <a:t>Levels 1-2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3200400" cy="320040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9.5/10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 you get with</a:t>
            </a:r>
            <a:br/>
            <a:r>
              <a:t>purpose-built tools + GPT-4.1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Calibri"/>
              </a:defRPr>
            </a:pPr>
            <a:r>
              <a:t>Levels 3-4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200400" cy="3200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Trust</a:t>
            </a:r>
            <a:br/>
            <a:r>
              <a:t>But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score is high enough</a:t>
            </a:r>
            <a:br/>
            <a:r>
              <a:t>to skip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Calibri"/>
              </a:defRPr>
            </a:pPr>
            <a:r>
              <a:t>Level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Calibri"/>
              </a:defRPr>
            </a:pPr>
            <a:r>
              <a:t>"The question is not 'should we deploy AI?' The question is 'which level are we operating at, and have we invested accordingly?'"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Full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462 test runs, 21 agent configurations, 6 models, 2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Use Case 1: Legal Case Analysis (16 agents)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57400"/>
          <a:ext cx="4297680" cy="699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Case Analyst (pro-code)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MCP/Com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SP/PDF/Com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KB/DOCX/Com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DV/Com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 4.6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DV/Com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GPT-5 Reasoning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SP/DOCX/Com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MCP/GCC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SP/PDF/GCC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KB/PDF/GCC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KB/PDF/Com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KB/DOCX/GCC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SP/DOCX/GCC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DV/Com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DV/Com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GPT-5 Auto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DV/GCC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Use Case 2: Investigative Analytics (8 agents)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2057400"/>
          <a:ext cx="42976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MCP/Com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Investigative (OpenAI SDK)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Triage (Semantic Kernel)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Foundry Agent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SP/PDF/GCC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SP/PDF/Com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CS MCP/GCC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M365 Copilot MCP/Com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60350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55"/>
                </a:solidFill>
                <a:latin typeface="Calibri"/>
              </a:defRPr>
            </a:pPr>
            <a:r>
              <a:t>Dataverse MCP (5 models): Sonnet 4.6 (10/10), GPT-5 Reasoning (10/10), GPT-4.1 (6/10), GPT-5 Auto (4/10), GPT-4o (2/10). Reasoning models close the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E8"/>
                </a:solidFill>
                <a:latin typeface="Calibri"/>
              </a:defRPr>
            </a:pPr>
            <a:r>
              <a:t>Start the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Where do your use cases fall on the spectrum?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306324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 data do you already have in structured form?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379476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What's your risk tolerance for AI-generated output?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452628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1206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Ready for a deeper dive? We have the architecture, the test data, and the framework.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525780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C4E8"/>
                </a:solidFill>
                <a:latin typeface="Calibri"/>
              </a:defRPr>
            </a:pPr>
            <a:r>
              <a:t>I'm not here to sell you a product. I'm here to help you make the right investment for your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