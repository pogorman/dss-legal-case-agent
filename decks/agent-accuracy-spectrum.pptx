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of you may remember me from such demos as the delegation demo. Those demos and this one have something in common: I like to build test harnesses for real-world use cases my customers care about. And both this demo and the delegation demo deal with the same fundamental topic: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demo is: a process and methods -- with real-world examples -- for making your agents better. What it isn't: a data extraction demo, other than to show ideas on tools and process when extraction is necessary. You'll probably have more questions than answers when we're done. Let's get into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is the single biggest variable at Level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 design is as important as model selection. Maybe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daily experience: Copilot helps you draft an email -- you review it. Copilot helps you write code -- you review it. Why would we skip human review at any of these five levels, especially Level 5 where the stakes are a family's future?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critical for the tech series. MUST articulate the platform value, not just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 what works today. Plan for what's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what do we do? Do we just give up on agents? No -- you continue to test them and make them better, and you always adhere to trust but verify. I have agents building apps for me right now. If I were building production enterprise apps, I'd have a team of human developers checking the work, helping test, reviewing agentic results. The AI accelerates the team. The team validates the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Agent Accuracy</a:t>
            </a:r>
            <a:br/>
            <a:r>
              <a:t>for Government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3774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C4E8"/>
                </a:solidFill>
                <a:latin typeface="Calibri"/>
              </a:defRPr>
            </a:pPr>
            <a:r>
              <a:t>A Five-Level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AACC"/>
                </a:solidFill>
                <a:latin typeface="Calibri"/>
              </a:defRPr>
            </a:pPr>
            <a:r>
              <a:t>Findings from 313 Test Runs Across 19 Agent Configurations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389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Calibri"/>
              </a:defRPr>
            </a:pPr>
            <a:r>
              <a:t>21 Slides  |  March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51206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167" y="51206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007" y="51206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8847" y="51206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7687" y="51206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760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57ABD"/>
                </a:solidFill>
                <a:latin typeface="Calibri"/>
              </a:defRPr>
            </a:pPr>
            <a:r>
              <a:t>313 test runs  |  19 agents  |  21 slides  |  2 use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"Not all AI use cases are created equal."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Your policy lookup chatbot and your legal case preparation tool have fundamentally different accuracy requirements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This framework helps you decide where to deploy aggressively, where to add guardrails, and where human review is non-negotiable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9418320" cy="7315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40280" y="434340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4343400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58584" y="4343400"/>
            <a:ext cx="457200" cy="4572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17736" y="4343400"/>
            <a:ext cx="457200" cy="457200"/>
          </a:xfrm>
          <a:prstGeom prst="ellipse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76888" y="4343400"/>
            <a:ext cx="457200" cy="4572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Low Stakes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53935"/>
                </a:solidFill>
                <a:latin typeface="Calibri"/>
              </a:defRPr>
            </a:pPr>
            <a:r>
              <a:t>High Stakes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Five Levels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463040"/>
          <a:ext cx="9966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743200"/>
                <a:gridCol w="42976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Stakes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Discovery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Inconvenience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"Find our leave policy"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Summarization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Wasted time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"Summarize this audit report"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Misallocated resources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"How many open cases by type?"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51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Investigative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Missed evidence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"Build a timeline from these records"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Adjudicative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Wrong legal outcome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"Prepare facts for this hearing"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48463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57ABD"/>
                </a:solidFill>
                <a:latin typeface="Calibri"/>
              </a:defRPr>
            </a:pPr>
            <a:r>
              <a:t>Where does your highest-priority use case fall?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Levels 1-2: The Quick 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Calibri"/>
              </a:defRPr>
            </a:pPr>
            <a:r>
              <a:t>Document agents score 8 out of 10 with zero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Point Copilot at your SharePoint library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No custom code, no databases, no tool design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Model choice barely matters at this level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Good enough for policy lookup, report summarization, meeting notes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206240"/>
            <a:ext cx="1828800" cy="731520"/>
          </a:xfrm>
          <a:prstGeom prst="round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4206240"/>
            <a:ext cx="1828800" cy="731520"/>
          </a:xfrm>
          <a:prstGeom prst="round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SharePoint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4206240"/>
            <a:ext cx="1828800" cy="731520"/>
          </a:xfrm>
          <a:prstGeom prst="round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42519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57AB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42519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57AB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035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55"/>
                </a:solidFill>
                <a:latin typeface="Calibri"/>
              </a:defRPr>
            </a:pPr>
            <a:r>
              <a:t>This is where most agencies should start. It works today.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Level 3: Structured Data Starts Winning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Calibri"/>
              </a:defRPr>
            </a:pPr>
            <a:r>
              <a:t>Aggregate queries work across all agent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"How many active cases?" "What's the breakdown by county?" "Top 5 violators?"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Document agents cannot answer these -- they only have individual files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Agents with structured data access start outperforming document agents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840480"/>
            <a:ext cx="4389120" cy="16459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Document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29768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Calibri"/>
              </a:defRPr>
            </a:pPr>
            <a:r>
              <a:t>"I don't have that information."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840480"/>
            <a:ext cx="438912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MCP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29768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CPS: 18 cases</a:t>
            </a:r>
            <a:br/>
            <a:r>
              <a:t>TPR: 12 cases</a:t>
            </a:r>
            <a:br/>
            <a:r>
              <a:t>Guardianship: 8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55"/>
                </a:solidFill>
                <a:latin typeface="Calibri"/>
              </a:defRPr>
            </a:pPr>
            <a:r>
              <a:t>This is where you start investing in data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Level 4: The Inflection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This is where engineering decisions determine success or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Three gaps emerged in testing: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3017520" cy="228600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8346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Model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4747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GPT-4.1 scores 9.5/10</a:t>
            </a:r>
            <a:br/>
            <a:r>
              <a:t>vs GPT-4o at 4/10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743200"/>
            <a:ext cx="3017520" cy="2286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8346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Tool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4747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One missing tool caused</a:t>
            </a:r>
            <a:br/>
            <a:r>
              <a:t>87% failure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743200"/>
            <a:ext cx="3017520" cy="22860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28346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Data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4747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Facts buried in narrative</a:t>
            </a:r>
            <a:br/>
            <a:r>
              <a:t>text were invisible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035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55"/>
                </a:solidFill>
                <a:latin typeface="Calibri"/>
              </a:defRPr>
            </a:pPr>
            <a:r>
              <a:t>Level 4 is where the investment pays off -- or doesn't.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Model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GPT-4.1 vs GPT-4o: Same tools, same data, same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2D2D2D"/>
                </a:solidFill>
                <a:latin typeface="Calibri"/>
              </a:defRPr>
            </a:pPr>
            <a:r>
              <a:t>GPT-4.1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2148839"/>
            <a:ext cx="477774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3846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Calibri"/>
              </a:defRPr>
            </a:pPr>
            <a:r>
              <a:t>9.5/10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2D2D2D"/>
                </a:solidFill>
                <a:latin typeface="Calibri"/>
              </a:defRPr>
            </a:pPr>
            <a:r>
              <a:t>GPT-4o (Government Cloud)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24612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Calibri"/>
              </a:defRPr>
            </a:pPr>
            <a:r>
              <a:t>4.0/10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976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2D2D2D"/>
                </a:solidFill>
                <a:latin typeface="Calibri"/>
              </a:defRPr>
            </a:pPr>
            <a:r>
              <a:t>Platform-assigned (M365)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4343399"/>
            <a:ext cx="100584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2976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  <a:latin typeface="Calibri"/>
              </a:defRPr>
            </a:pPr>
            <a:r>
              <a:t>2.0/10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Calibri"/>
              </a:rPr>
              <a:t>Government Cloud Copilot Studio is locked to GPT-4o today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Calibri"/>
              </a:rPr>
              <a:t>No amount of prompt engineering closed this gap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D2D2D"/>
                </a:solidFill>
                <a:latin typeface="Calibri"/>
              </a:rPr>
              <a:t>Pro-code agents can use GPT-4.1 in Government Cloud via Azure OpenAI directly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Tool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Calibri"/>
              </a:defRPr>
            </a:pPr>
            <a:r>
              <a:t>87% failure rate from one missing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Agents could not convert "4763 Griscom St" to a database parcel ID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15 address lookups across 5 agents, only 2 succeeded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One fuzzy-match tool added: zero failures in retesting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Investigative Agent: 1 out of 10 to a perfect 10 out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206240"/>
            <a:ext cx="3840480" cy="14630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3935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663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53935"/>
                </a:solidFill>
                <a:latin typeface="Calibri"/>
              </a:defRPr>
            </a:pPr>
            <a:r>
              <a:t>13 of 15 lookups failed</a:t>
            </a:r>
            <a:br/>
            <a:r>
              <a:t>1/10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4805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57AB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206240"/>
            <a:ext cx="3840480" cy="1463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663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CAF50"/>
                </a:solidFill>
                <a:latin typeface="Calibri"/>
              </a:defRPr>
            </a:pPr>
            <a:r>
              <a:t>0 failures</a:t>
            </a:r>
            <a:br/>
            <a:r>
              <a:t>10/10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760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57ABD"/>
                </a:solidFill>
                <a:latin typeface="Calibri"/>
              </a:defRPr>
            </a:pPr>
            <a:r>
              <a:t>The change: one search_properties fuzzy-match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Level 5: Trust But Verify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Even our best agent reproduced a dangerous error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4754880" cy="18288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3935"/>
                </a:solidFill>
                <a:latin typeface="Calibri"/>
              </a:defRPr>
            </a:pPr>
            <a:r>
              <a:t>Sheriff's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2D2D"/>
                </a:solidFill>
                <a:latin typeface="Calibri"/>
              </a:defRPr>
            </a:pPr>
            <a:r>
              <a:t>"no fractures detected</a:t>
            </a:r>
            <a:br/>
            <a:r>
              <a:t>on skeletal survey"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03120"/>
            <a:ext cx="475488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Medical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2D2D"/>
                </a:solidFill>
                <a:latin typeface="Calibri"/>
              </a:defRPr>
            </a:pPr>
            <a:r>
              <a:t>Bilateral long bone</a:t>
            </a:r>
            <a:br/>
            <a:r>
              <a:t>fractures documented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62828"/>
                </a:solidFill>
                <a:latin typeface="Calibri"/>
              </a:defRPr>
            </a:pPr>
            <a:r>
              <a:t>7 of 8 document agents quoted the sheriff's report without cross-checking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The fix: document structure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Added cross-reference headers to each document (zero content changes)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Commercial agent: 0/2 to 2/2 -- pulled Medical Records as primary source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Zero code, zero engineering -- document hygiene any paralegal can implement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Danger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Five categories of AI failure, ranked by severity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57400"/>
            <a:ext cx="13716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1. False Negative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57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Data retrieved, answer not recognized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880360"/>
            <a:ext cx="13716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2. Faithfully Reproduced Misinformation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880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Source document had an error, agent quoted it accurately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703320"/>
            <a:ext cx="1371600" cy="45720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657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3. Misattribution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703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Real fact, wrong person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526280"/>
            <a:ext cx="1371600" cy="45720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480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4. Hallucinated Fact with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526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Invented detail with no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349240"/>
            <a:ext cx="1371600" cy="45720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303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5. Silent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No results, no indication anything went wrong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864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57ABD"/>
                </a:solidFill>
                <a:latin typeface="Calibri"/>
              </a:defRPr>
            </a:pPr>
            <a:r>
              <a:t>These are not hypothetical. We documented each one across 313 test runs.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Iterative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Deploying an agent is not a one-time 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286000"/>
            <a:ext cx="2468880" cy="2743200"/>
          </a:xfrm>
          <a:prstGeom prst="round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Round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Baseline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EEFF"/>
                </a:solidFill>
                <a:latin typeface="Calibri"/>
              </a:defRPr>
            </a:pPr>
            <a:r>
              <a:t>Measure failures</a:t>
            </a:r>
            <a:br/>
            <a:r>
              <a:t>against ground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286000"/>
            <a:ext cx="2468880" cy="27432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Round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Fix the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EEFF"/>
                </a:solidFill>
                <a:latin typeface="Calibri"/>
              </a:defRPr>
            </a:pPr>
            <a:r>
              <a:t>Make facts discrete</a:t>
            </a:r>
            <a:br/>
            <a:r>
              <a:t>and queryable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286000"/>
            <a:ext cx="2468880" cy="2743200"/>
          </a:xfrm>
          <a:prstGeom prst="round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Round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Fix the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EEFF"/>
                </a:solidFill>
                <a:latin typeface="Calibri"/>
              </a:defRPr>
            </a:pPr>
            <a:r>
              <a:t>Help the model</a:t>
            </a:r>
            <a:br/>
            <a:r>
              <a:t>reach the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286000"/>
            <a:ext cx="2468880" cy="2743200"/>
          </a:xfrm>
          <a:prstGeom prst="roundRect">
            <a:avLst/>
          </a:prstGeom>
          <a:solidFill>
            <a:srgbClr val="429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Round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Validate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EEFF"/>
                </a:solidFill>
                <a:latin typeface="Calibri"/>
              </a:defRPr>
            </a:pPr>
            <a:r>
              <a:t>Confirm what works</a:t>
            </a:r>
            <a:br/>
            <a:r>
              <a:t>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57AB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57AB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57AB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035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55"/>
                </a:solidFill>
                <a:latin typeface="Calibri"/>
              </a:defRPr>
            </a:pPr>
            <a:r>
              <a:t>Every organization will go through these rounds, in this order.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Results After Iteration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Four agents reached 9-10 out of 10 (three at perfect 10)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103120"/>
          <a:ext cx="8778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164592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 1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Final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Rounds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Commercial MCP (Copilot Studio)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Investigative Agent (OpenAI SDK)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Foundry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Triage Agent (Semantic Kernel)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45720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55"/>
                </a:solidFill>
                <a:latin typeface="Calibri"/>
              </a:defRPr>
            </a:pPr>
            <a:r>
              <a:t>The Triage Agent took five rounds to reach a perfect score.</a:t>
            </a:r>
            <a:br/>
            <a:r>
              <a:t>The investment is real -- but so are the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Code Spectrum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Zero code to full code -- same accuracy with GPT-4.1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103120"/>
          <a:ext cx="9144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M365 Copilot (Com)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Zero (3 JSON manifests)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Levels 1-2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Copilot Studio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Zero to low code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Levels 1-3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Foundry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Minimal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Levels 3-4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Custom SDK (OpenAI, SK)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Full code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Levels 4-5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45720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57ABD"/>
                </a:solidFill>
                <a:latin typeface="Calibri"/>
              </a:defRPr>
            </a:pPr>
            <a:r>
              <a:t>The investment buys governance and customization, not accuracy.</a:t>
            </a:r>
            <a:br/>
            <a:r>
              <a:t>Accuracy comes from the model and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Why Copilot Studio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One platform, declarative to pro-code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Same environment hosts zero-code SharePoint agents AND MCP-connected structured data agents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Model flexibility: swap GPT-4o for GPT-4.1, accuracy goes from 4/10 to 10/10 -- no config changes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Enterprise governance built in: DLP, audit logging, admin pre-approval for tool calls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M365 distribution: agents show up in Teams and Copilot chat -- no separate app to deploy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Our test data proves the platform works -- the model is the variable, not the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57ABD"/>
                </a:solidFill>
                <a:latin typeface="Calibri"/>
              </a:defRPr>
            </a:pPr>
            <a:r>
              <a:t>Commercial Copilot Studio MCP scored a perfect 10 out of 10.</a:t>
            </a:r>
            <a:br/>
            <a:r>
              <a:t>The architecture is sound. The limiting factor is model availability in GCC.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What to Do at Each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463040"/>
          <a:ext cx="9601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1-2</a:t>
                      </a:r>
                    </a:p>
                  </a:txBody>
                  <a:tcPr anchor="ctr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Deploy Copilot with SharePoint. Clean up document metadata. Done.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Connect to structured data via MCP. Clear tool descriptions. Summary modes.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51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Purpose-built tools. GPT-4.1 minimum. Ground truth test suite. Budget 3+ rounds.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Level 4 + human review workflows + audit logging + citation linking.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47548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57ABD"/>
                </a:solidFill>
                <a:latin typeface="Calibri"/>
              </a:defRPr>
            </a:pPr>
            <a:r>
              <a:t>Match your investment to your accuracy requirement.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Government Cloud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The GCC reality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Copilot Studio locked to GPT-4o (adequate for Levels 1-3)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Pro-code agents can use GPT-4.1 via Azure OpenAI (Levels 4-5)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Monitor model updates -- GCC parity will improve over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32004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39" y="3657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Is your use case Level 1-3?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754880"/>
            <a:ext cx="3200400" cy="9144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39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 Copilot Studio today.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657600"/>
            <a:ext cx="32004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657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Is your use case Level 4-5?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4754880"/>
            <a:ext cx="3200400" cy="91440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Deploy a pro-code agent</a:t>
            </a:r>
            <a:br/>
            <a:r>
              <a:t>with GPT-4.1.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20040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657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Planning for Level 4-5</a:t>
            </a:r>
            <a:br/>
            <a:r>
              <a:t>in the future?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754880"/>
            <a:ext cx="3200400" cy="9144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Start building ground truth</a:t>
            </a:r>
            <a:br/>
            <a:r>
              <a:t>test suites now.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C4E8"/>
                </a:solidFill>
                <a:latin typeface="Calibri"/>
              </a:defRPr>
            </a:pPr>
            <a:r>
              <a:t>"Let me show you the difference</a:t>
            </a:r>
            <a:br/>
            <a:r>
              <a:t>between Level 2 and Level 4."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8BC34A"/>
                </a:solidFill>
                <a:latin typeface="Calibri"/>
              </a:defRPr>
            </a:pPr>
            <a:r>
              <a:t>Level 2: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SharePoint document summarization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AACC"/>
                </a:solidFill>
                <a:latin typeface="Calibri"/>
              </a:defRPr>
            </a:pPr>
            <a:r>
              <a:t>2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9800"/>
                </a:solidFill>
                <a:latin typeface="Calibri"/>
              </a:defRPr>
            </a:pPr>
            <a:r>
              <a:t>Level 3: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"How many cases by type?" aggregate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AACC"/>
                </a:solidFill>
                <a:latin typeface="Calibri"/>
              </a:defRPr>
            </a:pPr>
            <a:r>
              <a:t>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480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4511E"/>
                </a:solidFill>
                <a:latin typeface="Calibri"/>
              </a:defRPr>
            </a:pPr>
            <a:r>
              <a:t>Level 4: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money prompt -- timeline, discrepancies, statements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4480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AACC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Level 5: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skeletal survey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AACC"/>
                </a:solidFill>
                <a:latin typeface="Calibri"/>
              </a:defRPr>
            </a:pPr>
            <a:r>
              <a:t>3 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Surprising Finding: Agent Challenged Its Own Premise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A pro-code agent questioned the question -- and was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Asked about a $146,000 purchase vs a $357,100 assessment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Agent checked the source data: actual assessment was $53,155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Recalculated using verified numbers instead of the prompt's numbers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No other agent questioned the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206240"/>
            <a:ext cx="8503920" cy="10972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251960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C5F8A"/>
                </a:solidFill>
                <a:latin typeface="Calibri"/>
              </a:defRPr>
            </a:pPr>
            <a:r>
              <a:t>"The assessment value in our records is $53,155, not $357,100 as stated in the question. Using the verified assessment value..."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55"/>
                </a:solidFill>
                <a:latin typeface="Calibri"/>
              </a:defRPr>
            </a:pPr>
            <a:r>
              <a:t>This is what custom orchestration enables -- but only with iterative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Surprising Finding: False Negative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t>The model retrieved the answer and didn't recognize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Agent called the right tools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Received data containing "two positive drug screens (fentanyl)"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Concluded: "no drug test results exist in the available data"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Invisible to users: tool calls look correct, answer sounds confident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114800"/>
            <a:ext cx="457200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1605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Calibri"/>
              </a:defRPr>
            </a:pPr>
            <a:r>
              <a:t>Tool Output (correct)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5720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Calibri"/>
              </a:defRPr>
            </a:pPr>
            <a:r>
              <a:t>"two positive drug screens</a:t>
            </a:r>
            <a:br/>
            <a:r>
              <a:t>(fentanyl)"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4572000" cy="13716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53935"/>
                </a:solidFill>
                <a:latin typeface="Calibri"/>
              </a:defRPr>
            </a:pPr>
            <a:r>
              <a:t>Agent Conclusion (wrong)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Calibri"/>
              </a:defRPr>
            </a:pPr>
            <a:r>
              <a:t>"no drug test results exist</a:t>
            </a:r>
            <a:br/>
            <a:r>
              <a:t>in the available data"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62828"/>
                </a:solidFill>
                <a:latin typeface="Calibri"/>
              </a:defRPr>
            </a:pPr>
            <a:r>
              <a:t>This is why you need ground truth testing. You cannot catch this in production.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Bottom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4864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Three numbers to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3200400" cy="32004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What you get with</a:t>
            </a:r>
            <a:br/>
            <a:r>
              <a:t>zero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572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EEFF"/>
                </a:solidFill>
                <a:latin typeface="Calibri"/>
              </a:defRPr>
            </a:pPr>
            <a:r>
              <a:t>Levels 1-2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103120"/>
            <a:ext cx="3200400" cy="3200400"/>
          </a:xfrm>
          <a:prstGeom prst="round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286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9.5/10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4747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What you get with</a:t>
            </a:r>
            <a:br/>
            <a:r>
              <a:t>purpose-built tools + GPT-4.1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4572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EEFF"/>
                </a:solidFill>
                <a:latin typeface="Calibri"/>
              </a:defRPr>
            </a:pPr>
            <a:r>
              <a:t>Levels 3-4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03120"/>
            <a:ext cx="3200400" cy="32004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Trust</a:t>
            </a:r>
            <a:br/>
            <a:r>
              <a:t>But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747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No score is high enough</a:t>
            </a:r>
            <a:br/>
            <a:r>
              <a:t>to skip 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572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EEFF"/>
                </a:solidFill>
                <a:latin typeface="Calibri"/>
              </a:defRPr>
            </a:pPr>
            <a:r>
              <a:t>Level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55555"/>
                </a:solidFill>
                <a:latin typeface="Calibri"/>
              </a:defRPr>
            </a:pPr>
            <a:r>
              <a:t>"The question is not 'should we deploy AI?' The question is 'which level are we operating at, and have we invested accordingly?'"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327" y="6035040"/>
            <a:ext cx="201168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L1: Discovery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1167" y="6035040"/>
            <a:ext cx="2011680" cy="411480"/>
          </a:xfrm>
          <a:prstGeom prst="round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L2: Summarization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90007" y="6035040"/>
            <a:ext cx="201168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L3: Operational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8847" y="6035040"/>
            <a:ext cx="2011680" cy="411480"/>
          </a:xfrm>
          <a:prstGeom prst="round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L4: Investigative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87687" y="6035040"/>
            <a:ext cx="2011680" cy="4114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L5: Adjudicative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C4E8"/>
                </a:solidFill>
                <a:latin typeface="Calibri"/>
              </a:defRPr>
            </a:pPr>
            <a:r>
              <a:t>Start the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92608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Where do your use cases fall on the spectrum?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3063240"/>
            <a:ext cx="182880" cy="182880"/>
          </a:xfrm>
          <a:prstGeom prst="ellipse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6576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What data do you already have in structured form?</a:t>
            </a:r>
          </a:p>
        </p:txBody>
      </p:sp>
      <p:sp>
        <p:nvSpPr>
          <p:cNvPr id="7" name="Oval 6"/>
          <p:cNvSpPr/>
          <p:nvPr/>
        </p:nvSpPr>
        <p:spPr>
          <a:xfrm>
            <a:off x="2286000" y="3794760"/>
            <a:ext cx="182880" cy="182880"/>
          </a:xfrm>
          <a:prstGeom prst="ellipse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43891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What's your risk tolerance for AI-generated output?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4526280"/>
            <a:ext cx="182880" cy="182880"/>
          </a:xfrm>
          <a:prstGeom prst="ellipse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12064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Ready for a deeper dive? We have the architecture, the test data, and the framework.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" y="5257800"/>
            <a:ext cx="182880" cy="182880"/>
          </a:xfrm>
          <a:prstGeom prst="ellipse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0C4E8"/>
                </a:solidFill>
                <a:latin typeface="Calibri"/>
              </a:defRPr>
            </a:pPr>
            <a:r>
              <a:t>I'm not here to sell you a product. I'm here to help you make the right investment for your 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